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Times New Roman Bold"/>
      <p:regular r:id="rId18"/>
    </p:embeddedFont>
    <p:embeddedFont>
      <p:font typeface="Times New Roman MT" panose="020B0604020202020204" charset="0"/>
      <p:regular r:id="rId19"/>
    </p:embeddedFont>
    <p:embeddedFont>
      <p:font typeface="Times New Roman MT Bold"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5" d="100"/>
          <a:sy n="45" d="100"/>
        </p:scale>
        <p:origin x="594"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09.09.2026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71B2431-D351-4C6E-A3CF-9DFAC0E3E050}" type="slidenum">
              <a:rPr lang="cs-CZ" smtClean="0"/>
              <a:t>1</a:t>
            </a:fld>
            <a:endParaRPr lang="cs-CZ"/>
          </a:p>
        </p:txBody>
      </p:sp>
    </p:spTree>
    <p:extLst>
      <p:ext uri="{BB962C8B-B14F-4D97-AF65-F5344CB8AC3E}">
        <p14:creationId xmlns:p14="http://schemas.microsoft.com/office/powerpoint/2010/main" val="21632856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a:p>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a:p>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a:p>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a:p>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a:p>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a:p>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71B2431-D351-4C6E-A3CF-9DFAC0E3E050}" type="slidenum">
              <a:rPr lang="cs-CZ" smtClean="0"/>
              <a:t>8</a:t>
            </a:fld>
            <a:endParaRPr lang="cs-CZ"/>
          </a:p>
        </p:txBody>
      </p:sp>
    </p:spTree>
    <p:extLst>
      <p:ext uri="{BB962C8B-B14F-4D97-AF65-F5344CB8AC3E}">
        <p14:creationId xmlns:p14="http://schemas.microsoft.com/office/powerpoint/2010/main" val="6489430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a:p>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a:p>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a:p>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a:p>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a:p>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a:p>
            <a:endParaRPr lang="en-US" dirty="0"/>
          </a:p>
          <a:p>
            <a:endParaRPr lang="en-US" dirty="0"/>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71B2431-D351-4C6E-A3CF-9DFAC0E3E050}" type="slidenum">
              <a:rPr lang="cs-CZ" smtClean="0"/>
              <a:t>15</a:t>
            </a:fld>
            <a:endParaRPr lang="cs-CZ"/>
          </a:p>
        </p:txBody>
      </p:sp>
    </p:spTree>
    <p:extLst>
      <p:ext uri="{BB962C8B-B14F-4D97-AF65-F5344CB8AC3E}">
        <p14:creationId xmlns:p14="http://schemas.microsoft.com/office/powerpoint/2010/main" val="41174166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e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sv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sv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1.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3.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9.sv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9.sv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eg"/><Relationship Id="rId7" Type="http://schemas.openxmlformats.org/officeDocument/2006/relationships/image" Target="../media/image16.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5.png"/><Relationship Id="rId11" Type="http://schemas.openxmlformats.org/officeDocument/2006/relationships/image" Target="../media/image18.svg"/><Relationship Id="rId5" Type="http://schemas.openxmlformats.org/officeDocument/2006/relationships/image" Target="../media/image3.svg"/><Relationship Id="rId10"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sv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9.sv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jpeg"/><Relationship Id="rId7"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9.sv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9.sv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9.sv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jpeg"/><Relationship Id="rId7" Type="http://schemas.openxmlformats.org/officeDocument/2006/relationships/image" Target="../media/image9.sv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27.svg"/><Relationship Id="rId4" Type="http://schemas.openxmlformats.org/officeDocument/2006/relationships/image" Target="../media/image26.png"/><Relationship Id="rId9" Type="http://schemas.openxmlformats.org/officeDocument/2006/relationships/image" Target="../media/image3.sv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1.sv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85801" y="-647700"/>
            <a:ext cx="19260937" cy="11626491"/>
            <a:chOff x="-576462" y="590353"/>
            <a:chExt cx="24384000" cy="13716000"/>
          </a:xfrm>
        </p:grpSpPr>
        <p:sp>
          <p:nvSpPr>
            <p:cNvPr id="3" name="Freeform 3"/>
            <p:cNvSpPr/>
            <p:nvPr/>
          </p:nvSpPr>
          <p:spPr>
            <a:xfrm>
              <a:off x="-576462" y="590353"/>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179" b="-179"/>
              </a:stretch>
            </a:blipFill>
          </p:spPr>
          <p:txBody>
            <a:bodyPr/>
            <a:lstStyle/>
            <a:p>
              <a:endParaRPr lang="en-IN" dirty="0"/>
            </a:p>
          </p:txBody>
        </p:sp>
      </p:grpSp>
      <p:sp>
        <p:nvSpPr>
          <p:cNvPr id="4" name="Freeform 4"/>
          <p:cNvSpPr/>
          <p:nvPr/>
        </p:nvSpPr>
        <p:spPr>
          <a:xfrm>
            <a:off x="0" y="1028700"/>
            <a:ext cx="6965061" cy="6947649"/>
          </a:xfrm>
          <a:custGeom>
            <a:avLst/>
            <a:gdLst/>
            <a:ahLst/>
            <a:cxnLst/>
            <a:rect l="l" t="t" r="r" b="b"/>
            <a:pathLst>
              <a:path w="6965061" h="6947649">
                <a:moveTo>
                  <a:pt x="0" y="0"/>
                </a:moveTo>
                <a:lnTo>
                  <a:pt x="6965061" y="0"/>
                </a:lnTo>
                <a:lnTo>
                  <a:pt x="6965061" y="6947649"/>
                </a:lnTo>
                <a:lnTo>
                  <a:pt x="0" y="6947649"/>
                </a:lnTo>
                <a:lnTo>
                  <a:pt x="0" y="0"/>
                </a:lnTo>
                <a:close/>
              </a:path>
            </a:pathLst>
          </a:custGeom>
          <a:blipFill>
            <a:blip r:embed="rId4">
              <a:extLst>
                <a:ext uri="{96DAC541-7B7A-43D3-8B79-37D633B846F1}">
                  <asvg:svgBlip xmlns:asvg="http://schemas.microsoft.com/office/drawing/2016/SVG/main" r:embed="rId5"/>
                </a:ext>
              </a:extLst>
            </a:blip>
            <a:stretch>
              <a:fillRect l="-11" r="-11"/>
            </a:stretch>
          </a:blipFill>
        </p:spPr>
      </p:sp>
      <p:sp>
        <p:nvSpPr>
          <p:cNvPr id="5" name="Freeform 5"/>
          <p:cNvSpPr/>
          <p:nvPr/>
        </p:nvSpPr>
        <p:spPr>
          <a:xfrm>
            <a:off x="1425130" y="244512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TextBox 6"/>
          <p:cNvSpPr txBox="1"/>
          <p:nvPr/>
        </p:nvSpPr>
        <p:spPr>
          <a:xfrm>
            <a:off x="9540454" y="0"/>
            <a:ext cx="8643719" cy="3077766"/>
          </a:xfrm>
          <a:prstGeom prst="rect">
            <a:avLst/>
          </a:prstGeom>
        </p:spPr>
        <p:txBody>
          <a:bodyPr wrap="square" lIns="0" tIns="0" rIns="0" bIns="0" rtlCol="0" anchor="t">
            <a:spAutoFit/>
          </a:bodyPr>
          <a:lstStyle/>
          <a:p>
            <a:pPr algn="l">
              <a:lnSpc>
                <a:spcPts val="6000"/>
              </a:lnSpc>
            </a:pPr>
            <a:r>
              <a:rPr lang="en-US" sz="6000" b="1" dirty="0">
                <a:solidFill>
                  <a:srgbClr val="1E4664"/>
                </a:solidFill>
                <a:latin typeface="Times New Roman Bold"/>
                <a:ea typeface="Times New Roman Bold"/>
                <a:cs typeface="Times New Roman Bold"/>
                <a:sym typeface="Times New Roman Bold"/>
              </a:rPr>
              <a:t>Building an ML-based Ensemble Model for Fraud Detection in Digital Banking Transactions</a:t>
            </a:r>
          </a:p>
        </p:txBody>
      </p:sp>
      <p:sp>
        <p:nvSpPr>
          <p:cNvPr id="7" name="Freeform 7"/>
          <p:cNvSpPr/>
          <p:nvPr/>
        </p:nvSpPr>
        <p:spPr>
          <a:xfrm flipH="1">
            <a:off x="10418386" y="9322062"/>
            <a:ext cx="7315200" cy="1276836"/>
          </a:xfrm>
          <a:custGeom>
            <a:avLst/>
            <a:gdLst/>
            <a:ahLst/>
            <a:cxnLst/>
            <a:rect l="l" t="t" r="r" b="b"/>
            <a:pathLst>
              <a:path w="7315200" h="1276836">
                <a:moveTo>
                  <a:pt x="7315200" y="0"/>
                </a:moveTo>
                <a:lnTo>
                  <a:pt x="0" y="0"/>
                </a:lnTo>
                <a:lnTo>
                  <a:pt x="0" y="1276836"/>
                </a:lnTo>
                <a:lnTo>
                  <a:pt x="7315200" y="1276836"/>
                </a:lnTo>
                <a:lnTo>
                  <a:pt x="7315200" y="0"/>
                </a:lnTo>
                <a:close/>
              </a:path>
            </a:pathLst>
          </a:custGeom>
          <a:blipFill>
            <a:blip r:embed="rId8">
              <a:extLst>
                <a:ext uri="{96DAC541-7B7A-43D3-8B79-37D633B846F1}">
                  <asvg:svgBlip xmlns:asvg="http://schemas.microsoft.com/office/drawing/2016/SVG/main" r:embed="rId9"/>
                </a:ext>
              </a:extLst>
            </a:blip>
            <a:stretch>
              <a:fillRect t="-354" b="-353"/>
            </a:stretch>
          </a:blipFill>
        </p:spPr>
        <p:txBody>
          <a:bodyPr/>
          <a:lstStyle/>
          <a:p>
            <a:endParaRPr lang="en-IN" dirty="0"/>
          </a:p>
        </p:txBody>
      </p:sp>
      <p:sp>
        <p:nvSpPr>
          <p:cNvPr id="8" name="Freeform 8"/>
          <p:cNvSpPr/>
          <p:nvPr/>
        </p:nvSpPr>
        <p:spPr>
          <a:xfrm>
            <a:off x="-1322584" y="4973907"/>
            <a:ext cx="6019933" cy="6004884"/>
          </a:xfrm>
          <a:custGeom>
            <a:avLst/>
            <a:gdLst/>
            <a:ahLst/>
            <a:cxnLst/>
            <a:rect l="l" t="t" r="r" b="b"/>
            <a:pathLst>
              <a:path w="6019933" h="6004884">
                <a:moveTo>
                  <a:pt x="0" y="0"/>
                </a:moveTo>
                <a:lnTo>
                  <a:pt x="6019933" y="0"/>
                </a:lnTo>
                <a:lnTo>
                  <a:pt x="6019933" y="6004884"/>
                </a:lnTo>
                <a:lnTo>
                  <a:pt x="0" y="6004884"/>
                </a:lnTo>
                <a:lnTo>
                  <a:pt x="0" y="0"/>
                </a:lnTo>
                <a:close/>
              </a:path>
            </a:pathLst>
          </a:custGeom>
          <a:blipFill>
            <a:blip r:embed="rId4">
              <a:extLst>
                <a:ext uri="{96DAC541-7B7A-43D3-8B79-37D633B846F1}">
                  <asvg:svgBlip xmlns:asvg="http://schemas.microsoft.com/office/drawing/2016/SVG/main" r:embed="rId5"/>
                </a:ext>
              </a:extLst>
            </a:blip>
            <a:stretch>
              <a:fillRect l="-33" r="-33"/>
            </a:stretch>
          </a:blipFill>
        </p:spPr>
      </p:sp>
      <p:sp>
        <p:nvSpPr>
          <p:cNvPr id="9" name="Freeform 9"/>
          <p:cNvSpPr/>
          <p:nvPr/>
        </p:nvSpPr>
        <p:spPr>
          <a:xfrm>
            <a:off x="5822651" y="-1388045"/>
            <a:ext cx="3461576" cy="4114800"/>
          </a:xfrm>
          <a:custGeom>
            <a:avLst/>
            <a:gdLst/>
            <a:ahLst/>
            <a:cxnLst/>
            <a:rect l="l" t="t" r="r" b="b"/>
            <a:pathLst>
              <a:path w="3461576" h="4114800">
                <a:moveTo>
                  <a:pt x="0" y="0"/>
                </a:moveTo>
                <a:lnTo>
                  <a:pt x="3461575" y="0"/>
                </a:lnTo>
                <a:lnTo>
                  <a:pt x="3461575"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t="-35" b="-35"/>
            </a:stretch>
          </a:blipFill>
        </p:spPr>
        <p:txBody>
          <a:bodyPr/>
          <a:lstStyle/>
          <a:p>
            <a:endParaRPr lang="en-IN" dirty="0"/>
          </a:p>
        </p:txBody>
      </p:sp>
      <p:sp>
        <p:nvSpPr>
          <p:cNvPr id="10" name="Freeform 10"/>
          <p:cNvSpPr/>
          <p:nvPr/>
        </p:nvSpPr>
        <p:spPr>
          <a:xfrm flipH="1" flipV="1">
            <a:off x="4395635" y="7876189"/>
            <a:ext cx="3461576" cy="4114800"/>
          </a:xfrm>
          <a:custGeom>
            <a:avLst/>
            <a:gdLst/>
            <a:ahLst/>
            <a:cxnLst/>
            <a:rect l="l" t="t" r="r" b="b"/>
            <a:pathLst>
              <a:path w="3461576" h="4114800">
                <a:moveTo>
                  <a:pt x="3461575" y="4114800"/>
                </a:moveTo>
                <a:lnTo>
                  <a:pt x="0" y="4114800"/>
                </a:lnTo>
                <a:lnTo>
                  <a:pt x="0" y="0"/>
                </a:lnTo>
                <a:lnTo>
                  <a:pt x="3461575" y="0"/>
                </a:lnTo>
                <a:lnTo>
                  <a:pt x="3461575" y="4114800"/>
                </a:lnTo>
                <a:close/>
              </a:path>
            </a:pathLst>
          </a:custGeom>
          <a:blipFill>
            <a:blip r:embed="rId10">
              <a:extLst>
                <a:ext uri="{96DAC541-7B7A-43D3-8B79-37D633B846F1}">
                  <asvg:svgBlip xmlns:asvg="http://schemas.microsoft.com/office/drawing/2016/SVG/main" r:embed="rId11"/>
                </a:ext>
              </a:extLst>
            </a:blip>
            <a:stretch>
              <a:fillRect t="-35" b="-35"/>
            </a:stretch>
          </a:blipFill>
        </p:spPr>
        <p:txBody>
          <a:bodyPr/>
          <a:lstStyle/>
          <a:p>
            <a:endParaRPr lang="en-IN" dirty="0"/>
          </a:p>
        </p:txBody>
      </p:sp>
      <p:sp>
        <p:nvSpPr>
          <p:cNvPr id="11" name="TextBox 11"/>
          <p:cNvSpPr txBox="1"/>
          <p:nvPr/>
        </p:nvSpPr>
        <p:spPr>
          <a:xfrm>
            <a:off x="6764138" y="3522159"/>
            <a:ext cx="11810999" cy="5517985"/>
          </a:xfrm>
          <a:prstGeom prst="rect">
            <a:avLst/>
          </a:prstGeom>
        </p:spPr>
        <p:txBody>
          <a:bodyPr wrap="square" lIns="0" tIns="0" rIns="0" bIns="0" rtlCol="0" anchor="t">
            <a:spAutoFit/>
          </a:bodyPr>
          <a:lstStyle/>
          <a:p>
            <a:pPr algn="ctr">
              <a:lnSpc>
                <a:spcPts val="3900"/>
              </a:lnSpc>
            </a:pPr>
            <a:r>
              <a:rPr lang="en-US" sz="4400" dirty="0">
                <a:solidFill>
                  <a:srgbClr val="1E4664"/>
                </a:solidFill>
                <a:latin typeface="Times New Roman MT"/>
                <a:ea typeface="Times New Roman MT"/>
                <a:cs typeface="Times New Roman MT"/>
                <a:sym typeface="Times New Roman MT"/>
              </a:rPr>
              <a:t>MSc Data Analytics with Banking and Finance Research Project Presentation</a:t>
            </a:r>
          </a:p>
          <a:p>
            <a:pPr algn="ctr">
              <a:lnSpc>
                <a:spcPts val="3900"/>
              </a:lnSpc>
            </a:pPr>
            <a:endParaRPr lang="en-US" sz="3900" dirty="0">
              <a:solidFill>
                <a:srgbClr val="1E4664"/>
              </a:solidFill>
              <a:latin typeface="Times New Roman MT"/>
              <a:ea typeface="Times New Roman MT"/>
              <a:cs typeface="Times New Roman MT"/>
              <a:sym typeface="Times New Roman MT"/>
            </a:endParaRPr>
          </a:p>
          <a:p>
            <a:pPr algn="ctr">
              <a:lnSpc>
                <a:spcPts val="3900"/>
              </a:lnSpc>
            </a:pPr>
            <a:r>
              <a:rPr lang="en-US" sz="3900" dirty="0">
                <a:solidFill>
                  <a:srgbClr val="1E4664"/>
                </a:solidFill>
                <a:latin typeface="Times New Roman MT"/>
                <a:ea typeface="Times New Roman MT"/>
                <a:cs typeface="Times New Roman MT"/>
                <a:sym typeface="Times New Roman MT"/>
              </a:rPr>
              <a:t>Student: </a:t>
            </a:r>
            <a:r>
              <a:rPr lang="en-US" sz="3900" b="1" dirty="0">
                <a:solidFill>
                  <a:srgbClr val="1E4664"/>
                </a:solidFill>
                <a:latin typeface="Times New Roman MT"/>
                <a:ea typeface="Times New Roman MT"/>
                <a:cs typeface="Times New Roman MT"/>
                <a:sym typeface="Times New Roman MT"/>
              </a:rPr>
              <a:t>LALI MANIKANTA GOWRISETTI </a:t>
            </a:r>
            <a:r>
              <a:rPr lang="en-US" sz="3900" dirty="0">
                <a:solidFill>
                  <a:srgbClr val="1E4664"/>
                </a:solidFill>
                <a:latin typeface="Times New Roman MT"/>
                <a:ea typeface="Times New Roman MT"/>
                <a:cs typeface="Times New Roman MT"/>
                <a:sym typeface="Times New Roman MT"/>
              </a:rPr>
              <a:t>(C5054253)</a:t>
            </a:r>
          </a:p>
          <a:p>
            <a:pPr algn="ctr">
              <a:lnSpc>
                <a:spcPts val="3900"/>
              </a:lnSpc>
            </a:pPr>
            <a:r>
              <a:rPr lang="en-US" sz="3900" dirty="0">
                <a:solidFill>
                  <a:srgbClr val="1E4664"/>
                </a:solidFill>
                <a:latin typeface="Times New Roman MT"/>
                <a:ea typeface="Times New Roman MT"/>
                <a:cs typeface="Times New Roman MT"/>
                <a:sym typeface="Times New Roman MT"/>
              </a:rPr>
              <a:t>LaliManikanta.M.Gowrisetti@student.shu.ac.uk</a:t>
            </a:r>
          </a:p>
          <a:p>
            <a:pPr algn="ctr">
              <a:lnSpc>
                <a:spcPts val="3900"/>
              </a:lnSpc>
            </a:pPr>
            <a:endParaRPr lang="en-US" sz="3900" dirty="0">
              <a:solidFill>
                <a:srgbClr val="1E4664"/>
              </a:solidFill>
              <a:latin typeface="Times New Roman MT"/>
              <a:ea typeface="Times New Roman MT"/>
              <a:cs typeface="Times New Roman MT"/>
              <a:sym typeface="Times New Roman MT"/>
            </a:endParaRPr>
          </a:p>
          <a:p>
            <a:pPr algn="ctr">
              <a:lnSpc>
                <a:spcPts val="3900"/>
              </a:lnSpc>
            </a:pPr>
            <a:r>
              <a:rPr lang="en-US" sz="3900" dirty="0">
                <a:solidFill>
                  <a:srgbClr val="1E4664"/>
                </a:solidFill>
                <a:latin typeface="Times New Roman MT"/>
                <a:ea typeface="Times New Roman MT"/>
                <a:cs typeface="Times New Roman MT"/>
                <a:sym typeface="Times New Roman MT"/>
              </a:rPr>
              <a:t>Supervisor: </a:t>
            </a:r>
            <a:r>
              <a:rPr lang="en-US" sz="3900" b="1" dirty="0">
                <a:solidFill>
                  <a:srgbClr val="1E4664"/>
                </a:solidFill>
                <a:latin typeface="Times New Roman MT"/>
                <a:ea typeface="Times New Roman MT"/>
                <a:cs typeface="Times New Roman MT"/>
                <a:sym typeface="Times New Roman MT"/>
              </a:rPr>
              <a:t>Dr</a:t>
            </a:r>
            <a:r>
              <a:rPr lang="en-US" sz="3900" dirty="0">
                <a:solidFill>
                  <a:srgbClr val="1E4664"/>
                </a:solidFill>
                <a:latin typeface="Times New Roman MT"/>
                <a:ea typeface="Times New Roman MT"/>
                <a:cs typeface="Times New Roman MT"/>
                <a:sym typeface="Times New Roman MT"/>
              </a:rPr>
              <a:t>. </a:t>
            </a:r>
            <a:r>
              <a:rPr lang="en-US" sz="3900" b="1" dirty="0">
                <a:solidFill>
                  <a:srgbClr val="1E4664"/>
                </a:solidFill>
                <a:latin typeface="Times New Roman MT"/>
                <a:ea typeface="Times New Roman MT"/>
                <a:cs typeface="Times New Roman MT"/>
                <a:sym typeface="Times New Roman MT"/>
              </a:rPr>
              <a:t>JUMOKE POPOOLA</a:t>
            </a:r>
          </a:p>
          <a:p>
            <a:pPr algn="ctr">
              <a:lnSpc>
                <a:spcPts val="3900"/>
              </a:lnSpc>
            </a:pPr>
            <a:endParaRPr lang="en-US" sz="3900" dirty="0">
              <a:solidFill>
                <a:srgbClr val="1E4664"/>
              </a:solidFill>
              <a:latin typeface="Times New Roman MT"/>
              <a:ea typeface="Times New Roman MT"/>
              <a:cs typeface="Times New Roman MT"/>
              <a:sym typeface="Times New Roman MT"/>
            </a:endParaRPr>
          </a:p>
          <a:p>
            <a:pPr algn="ctr">
              <a:lnSpc>
                <a:spcPts val="3900"/>
              </a:lnSpc>
            </a:pPr>
            <a:r>
              <a:rPr lang="en-US" sz="3900" dirty="0">
                <a:solidFill>
                  <a:srgbClr val="1E4664"/>
                </a:solidFill>
                <a:latin typeface="Times New Roman MT"/>
                <a:ea typeface="Times New Roman MT"/>
                <a:cs typeface="Times New Roman MT"/>
                <a:sym typeface="Times New Roman MT"/>
              </a:rPr>
              <a:t>College of </a:t>
            </a:r>
            <a:r>
              <a:rPr lang="en-US" sz="3900" dirty="0" err="1">
                <a:solidFill>
                  <a:srgbClr val="1E4664"/>
                </a:solidFill>
                <a:latin typeface="Times New Roman MT"/>
                <a:ea typeface="Times New Roman MT"/>
                <a:cs typeface="Times New Roman MT"/>
                <a:sym typeface="Times New Roman MT"/>
              </a:rPr>
              <a:t>Business,Technology</a:t>
            </a:r>
            <a:r>
              <a:rPr lang="en-US" sz="3900" dirty="0">
                <a:solidFill>
                  <a:srgbClr val="1E4664"/>
                </a:solidFill>
                <a:latin typeface="Times New Roman MT"/>
                <a:ea typeface="Times New Roman MT"/>
                <a:cs typeface="Times New Roman MT"/>
                <a:sym typeface="Times New Roman MT"/>
              </a:rPr>
              <a:t> and Engineering (BTE) </a:t>
            </a:r>
          </a:p>
          <a:p>
            <a:pPr algn="ctr">
              <a:lnSpc>
                <a:spcPts val="3900"/>
              </a:lnSpc>
            </a:pPr>
            <a:r>
              <a:rPr lang="en-US" sz="3900" b="1" dirty="0">
                <a:solidFill>
                  <a:srgbClr val="1E4664"/>
                </a:solidFill>
                <a:latin typeface="Times New Roman MT"/>
                <a:ea typeface="Times New Roman MT"/>
                <a:cs typeface="Times New Roman MT"/>
                <a:sym typeface="Times New Roman MT"/>
              </a:rPr>
              <a:t>Sheffield Hallam University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3810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179" b="-179"/>
              </a:stretch>
            </a:blipFill>
          </p:spPr>
        </p:sp>
      </p:grpSp>
      <p:sp>
        <p:nvSpPr>
          <p:cNvPr id="4" name="Freeform 4"/>
          <p:cNvSpPr/>
          <p:nvPr/>
        </p:nvSpPr>
        <p:spPr>
          <a:xfrm>
            <a:off x="14826424" y="-768048"/>
            <a:ext cx="3461576" cy="4114800"/>
          </a:xfrm>
          <a:custGeom>
            <a:avLst/>
            <a:gdLst/>
            <a:ahLst/>
            <a:cxnLst/>
            <a:rect l="l" t="t" r="r" b="b"/>
            <a:pathLst>
              <a:path w="3461576" h="4114800">
                <a:moveTo>
                  <a:pt x="0" y="0"/>
                </a:moveTo>
                <a:lnTo>
                  <a:pt x="3461576" y="0"/>
                </a:lnTo>
                <a:lnTo>
                  <a:pt x="3461576"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t="-35" b="-35"/>
            </a:stretch>
          </a:blipFill>
        </p:spPr>
      </p:sp>
      <p:sp>
        <p:nvSpPr>
          <p:cNvPr id="5" name="Freeform 5"/>
          <p:cNvSpPr/>
          <p:nvPr/>
        </p:nvSpPr>
        <p:spPr>
          <a:xfrm>
            <a:off x="14337697" y="5953125"/>
            <a:ext cx="3456432" cy="4114800"/>
          </a:xfrm>
          <a:custGeom>
            <a:avLst/>
            <a:gdLst/>
            <a:ahLst/>
            <a:cxnLst/>
            <a:rect l="l" t="t" r="r" b="b"/>
            <a:pathLst>
              <a:path w="3456432" h="4114800">
                <a:moveTo>
                  <a:pt x="0" y="0"/>
                </a:moveTo>
                <a:lnTo>
                  <a:pt x="3456432" y="0"/>
                </a:lnTo>
                <a:lnTo>
                  <a:pt x="3456432"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154" r="-154"/>
            </a:stretch>
          </a:blipFill>
        </p:spPr>
      </p:sp>
      <p:sp>
        <p:nvSpPr>
          <p:cNvPr id="6" name="TextBox 6"/>
          <p:cNvSpPr txBox="1"/>
          <p:nvPr/>
        </p:nvSpPr>
        <p:spPr>
          <a:xfrm>
            <a:off x="2826649" y="852783"/>
            <a:ext cx="12634693" cy="968378"/>
          </a:xfrm>
          <a:prstGeom prst="rect">
            <a:avLst/>
          </a:prstGeom>
        </p:spPr>
        <p:txBody>
          <a:bodyPr lIns="0" tIns="0" rIns="0" bIns="0" rtlCol="0" anchor="t">
            <a:spAutoFit/>
          </a:bodyPr>
          <a:lstStyle/>
          <a:p>
            <a:pPr algn="ctr">
              <a:lnSpc>
                <a:spcPts val="6999"/>
              </a:lnSpc>
            </a:pPr>
            <a:r>
              <a:rPr lang="en-US" sz="6999" b="1">
                <a:solidFill>
                  <a:srgbClr val="1E4664"/>
                </a:solidFill>
                <a:latin typeface="Times New Roman Bold"/>
                <a:ea typeface="Times New Roman Bold"/>
                <a:cs typeface="Times New Roman Bold"/>
                <a:sym typeface="Times New Roman Bold"/>
              </a:rPr>
              <a:t>Acknowledgements</a:t>
            </a:r>
          </a:p>
        </p:txBody>
      </p:sp>
      <p:sp>
        <p:nvSpPr>
          <p:cNvPr id="7" name="TextBox 7"/>
          <p:cNvSpPr txBox="1"/>
          <p:nvPr/>
        </p:nvSpPr>
        <p:spPr>
          <a:xfrm>
            <a:off x="1028700" y="2252472"/>
            <a:ext cx="15966319" cy="2891028"/>
          </a:xfrm>
          <a:prstGeom prst="rect">
            <a:avLst/>
          </a:prstGeom>
        </p:spPr>
        <p:txBody>
          <a:bodyPr lIns="0" tIns="0" rIns="0" bIns="0" rtlCol="0" anchor="t">
            <a:spAutoFit/>
          </a:bodyPr>
          <a:lstStyle/>
          <a:p>
            <a:pPr marL="731396" lvl="2" indent="-243799" algn="l">
              <a:lnSpc>
                <a:spcPts val="5374"/>
              </a:lnSpc>
              <a:buFont typeface="Arial"/>
              <a:buChar char="⚬"/>
            </a:pPr>
            <a:r>
              <a:rPr lang="en-US" sz="3198" b="1" spc="85">
                <a:solidFill>
                  <a:srgbClr val="1E4664"/>
                </a:solidFill>
                <a:latin typeface="Times New Roman Bold"/>
                <a:ea typeface="Times New Roman Bold"/>
                <a:cs typeface="Times New Roman Bold"/>
                <a:sym typeface="Times New Roman Bold"/>
              </a:rPr>
              <a:t>I would like to thank my supervisor for the guidance, feedback and academic support provided throughout this project. </a:t>
            </a:r>
          </a:p>
          <a:p>
            <a:pPr marL="731396" lvl="2" indent="-243799" algn="l">
              <a:lnSpc>
                <a:spcPts val="5374"/>
              </a:lnSpc>
              <a:buFont typeface="Arial"/>
              <a:buChar char="⚬"/>
            </a:pPr>
            <a:r>
              <a:rPr lang="en-US" sz="3198" b="1" spc="85">
                <a:solidFill>
                  <a:srgbClr val="1E4664"/>
                </a:solidFill>
                <a:latin typeface="Times New Roman Bold"/>
                <a:ea typeface="Times New Roman Bold"/>
                <a:cs typeface="Times New Roman Bold"/>
                <a:sym typeface="Times New Roman Bold"/>
              </a:rPr>
              <a:t>I also acknowledge Sheffield Hallam University for providing the academic resources and learning environment required to complete the research.</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179" b="-179"/>
              </a:stretch>
            </a:blipFill>
          </p:spPr>
        </p:sp>
      </p:grpSp>
      <p:sp>
        <p:nvSpPr>
          <p:cNvPr id="4" name="Freeform 4"/>
          <p:cNvSpPr/>
          <p:nvPr/>
        </p:nvSpPr>
        <p:spPr>
          <a:xfrm>
            <a:off x="14826424" y="-768048"/>
            <a:ext cx="3461576" cy="4114800"/>
          </a:xfrm>
          <a:custGeom>
            <a:avLst/>
            <a:gdLst/>
            <a:ahLst/>
            <a:cxnLst/>
            <a:rect l="l" t="t" r="r" b="b"/>
            <a:pathLst>
              <a:path w="3461576" h="4114800">
                <a:moveTo>
                  <a:pt x="0" y="0"/>
                </a:moveTo>
                <a:lnTo>
                  <a:pt x="3461576" y="0"/>
                </a:lnTo>
                <a:lnTo>
                  <a:pt x="3461576"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t="-35" b="-35"/>
            </a:stretch>
          </a:blipFill>
        </p:spPr>
      </p:sp>
      <p:sp>
        <p:nvSpPr>
          <p:cNvPr id="5" name="TextBox 5"/>
          <p:cNvSpPr txBox="1"/>
          <p:nvPr/>
        </p:nvSpPr>
        <p:spPr>
          <a:xfrm>
            <a:off x="1095861" y="1967570"/>
            <a:ext cx="15966319" cy="7415379"/>
          </a:xfrm>
          <a:prstGeom prst="rect">
            <a:avLst/>
          </a:prstGeom>
        </p:spPr>
        <p:txBody>
          <a:bodyPr lIns="0" tIns="0" rIns="0" bIns="0" rtlCol="0" anchor="t">
            <a:spAutoFit/>
          </a:bodyPr>
          <a:lstStyle/>
          <a:p>
            <a:pPr marL="731396" lvl="2" indent="-243799" algn="just">
              <a:lnSpc>
                <a:spcPts val="5374"/>
              </a:lnSpc>
              <a:buFont typeface="Arial"/>
              <a:buChar char="⚬"/>
            </a:pPr>
            <a:r>
              <a:rPr lang="en-US" sz="3198" b="1" spc="85">
                <a:solidFill>
                  <a:srgbClr val="1E4664"/>
                </a:solidFill>
                <a:latin typeface="Times New Roman Bold"/>
                <a:ea typeface="Times New Roman Bold"/>
                <a:cs typeface="Times New Roman Bold"/>
                <a:sym typeface="Times New Roman Bold"/>
              </a:rPr>
              <a:t>Introduction</a:t>
            </a:r>
          </a:p>
          <a:p>
            <a:pPr marL="731396" lvl="2" indent="-243799" algn="just">
              <a:lnSpc>
                <a:spcPts val="5374"/>
              </a:lnSpc>
              <a:buFont typeface="Arial"/>
              <a:buChar char="⚬"/>
            </a:pPr>
            <a:r>
              <a:rPr lang="en-US" sz="3198" b="1" spc="85">
                <a:solidFill>
                  <a:srgbClr val="1E4664"/>
                </a:solidFill>
                <a:latin typeface="Times New Roman Bold"/>
                <a:ea typeface="Times New Roman Bold"/>
                <a:cs typeface="Times New Roman Bold"/>
                <a:sym typeface="Times New Roman Bold"/>
              </a:rPr>
              <a:t>Literature Review</a:t>
            </a:r>
          </a:p>
          <a:p>
            <a:pPr marL="731396" lvl="2" indent="-243799" algn="just">
              <a:lnSpc>
                <a:spcPts val="5374"/>
              </a:lnSpc>
              <a:buFont typeface="Arial"/>
              <a:buChar char="⚬"/>
            </a:pPr>
            <a:r>
              <a:rPr lang="en-US" sz="3198" b="1" spc="85">
                <a:solidFill>
                  <a:srgbClr val="1E4664"/>
                </a:solidFill>
                <a:latin typeface="Times New Roman Bold"/>
                <a:ea typeface="Times New Roman Bold"/>
                <a:cs typeface="Times New Roman Bold"/>
                <a:sym typeface="Times New Roman Bold"/>
              </a:rPr>
              <a:t>Methodology</a:t>
            </a:r>
          </a:p>
          <a:p>
            <a:pPr marL="731396" lvl="2" indent="-243799" algn="just">
              <a:lnSpc>
                <a:spcPts val="5374"/>
              </a:lnSpc>
              <a:buFont typeface="Arial"/>
              <a:buChar char="⚬"/>
            </a:pPr>
            <a:r>
              <a:rPr lang="en-US" sz="3198" b="1" spc="85">
                <a:solidFill>
                  <a:srgbClr val="1E4664"/>
                </a:solidFill>
                <a:latin typeface="Times New Roman Bold"/>
                <a:ea typeface="Times New Roman Bold"/>
                <a:cs typeface="Times New Roman Bold"/>
                <a:sym typeface="Times New Roman Bold"/>
              </a:rPr>
              <a:t>Ethics</a:t>
            </a:r>
          </a:p>
          <a:p>
            <a:pPr marL="731396" lvl="2" indent="-243799" algn="just">
              <a:lnSpc>
                <a:spcPts val="5374"/>
              </a:lnSpc>
              <a:buFont typeface="Arial"/>
              <a:buChar char="⚬"/>
            </a:pPr>
            <a:r>
              <a:rPr lang="en-US" sz="3198" b="1" spc="85">
                <a:solidFill>
                  <a:srgbClr val="1E4664"/>
                </a:solidFill>
                <a:latin typeface="Times New Roman Bold"/>
                <a:ea typeface="Times New Roman Bold"/>
                <a:cs typeface="Times New Roman Bold"/>
                <a:sym typeface="Times New Roman Bold"/>
              </a:rPr>
              <a:t>Implementation</a:t>
            </a:r>
          </a:p>
          <a:p>
            <a:pPr marL="731396" lvl="2" indent="-243799" algn="just">
              <a:lnSpc>
                <a:spcPts val="5374"/>
              </a:lnSpc>
              <a:buFont typeface="Arial"/>
              <a:buChar char="⚬"/>
            </a:pPr>
            <a:r>
              <a:rPr lang="en-US" sz="3198" b="1" spc="85">
                <a:solidFill>
                  <a:srgbClr val="1E4664"/>
                </a:solidFill>
                <a:latin typeface="Times New Roman Bold"/>
                <a:ea typeface="Times New Roman Bold"/>
                <a:cs typeface="Times New Roman Bold"/>
                <a:sym typeface="Times New Roman Bold"/>
              </a:rPr>
              <a:t>Results</a:t>
            </a:r>
          </a:p>
          <a:p>
            <a:pPr marL="731396" lvl="2" indent="-243799" algn="just">
              <a:lnSpc>
                <a:spcPts val="5374"/>
              </a:lnSpc>
              <a:buFont typeface="Arial"/>
              <a:buChar char="⚬"/>
            </a:pPr>
            <a:r>
              <a:rPr lang="en-US" sz="3198" b="1" spc="85">
                <a:solidFill>
                  <a:srgbClr val="1E4664"/>
                </a:solidFill>
                <a:latin typeface="Times New Roman Bold"/>
                <a:ea typeface="Times New Roman Bold"/>
                <a:cs typeface="Times New Roman Bold"/>
                <a:sym typeface="Times New Roman Bold"/>
              </a:rPr>
              <a:t>Evaluation</a:t>
            </a:r>
          </a:p>
          <a:p>
            <a:pPr marL="731396" lvl="2" indent="-243799" algn="just">
              <a:lnSpc>
                <a:spcPts val="5374"/>
              </a:lnSpc>
              <a:buFont typeface="Arial"/>
              <a:buChar char="⚬"/>
            </a:pPr>
            <a:r>
              <a:rPr lang="en-US" sz="3198" b="1" spc="85">
                <a:solidFill>
                  <a:srgbClr val="1E4664"/>
                </a:solidFill>
                <a:latin typeface="Times New Roman Bold"/>
                <a:ea typeface="Times New Roman Bold"/>
                <a:cs typeface="Times New Roman Bold"/>
                <a:sym typeface="Times New Roman Bold"/>
              </a:rPr>
              <a:t>Conclusion</a:t>
            </a:r>
          </a:p>
          <a:p>
            <a:pPr marL="731396" lvl="2" indent="-243799" algn="just">
              <a:lnSpc>
                <a:spcPts val="5374"/>
              </a:lnSpc>
              <a:buFont typeface="Arial"/>
              <a:buChar char="⚬"/>
            </a:pPr>
            <a:r>
              <a:rPr lang="en-US" sz="3198" b="1" spc="85">
                <a:solidFill>
                  <a:srgbClr val="1E4664"/>
                </a:solidFill>
                <a:latin typeface="Times New Roman Bold"/>
                <a:ea typeface="Times New Roman Bold"/>
                <a:cs typeface="Times New Roman Bold"/>
                <a:sym typeface="Times New Roman Bold"/>
              </a:rPr>
              <a:t>References</a:t>
            </a:r>
          </a:p>
          <a:p>
            <a:pPr marL="731396" lvl="2" indent="-243799" algn="just">
              <a:lnSpc>
                <a:spcPts val="5374"/>
              </a:lnSpc>
              <a:buFont typeface="Arial"/>
              <a:buChar char="⚬"/>
            </a:pPr>
            <a:r>
              <a:rPr lang="en-US" sz="3198" b="1" spc="85">
                <a:solidFill>
                  <a:srgbClr val="1E4664"/>
                </a:solidFill>
                <a:latin typeface="Times New Roman Bold"/>
                <a:ea typeface="Times New Roman Bold"/>
                <a:cs typeface="Times New Roman Bold"/>
                <a:sym typeface="Times New Roman Bold"/>
              </a:rPr>
              <a:t>AI Declaration </a:t>
            </a:r>
          </a:p>
          <a:p>
            <a:pPr marL="731396" lvl="2" indent="-243799" algn="just">
              <a:lnSpc>
                <a:spcPts val="5374"/>
              </a:lnSpc>
            </a:pPr>
            <a:endParaRPr lang="en-US" sz="3198" b="1" spc="85">
              <a:solidFill>
                <a:srgbClr val="1E4664"/>
              </a:solidFill>
              <a:latin typeface="Times New Roman Bold"/>
              <a:ea typeface="Times New Roman Bold"/>
              <a:cs typeface="Times New Roman Bold"/>
              <a:sym typeface="Times New Roman Bold"/>
            </a:endParaRPr>
          </a:p>
        </p:txBody>
      </p:sp>
      <p:sp>
        <p:nvSpPr>
          <p:cNvPr id="6" name="Freeform 6"/>
          <p:cNvSpPr/>
          <p:nvPr/>
        </p:nvSpPr>
        <p:spPr>
          <a:xfrm>
            <a:off x="12421000" y="4528185"/>
            <a:ext cx="5264420" cy="5408647"/>
          </a:xfrm>
          <a:custGeom>
            <a:avLst/>
            <a:gdLst/>
            <a:ahLst/>
            <a:cxnLst/>
            <a:rect l="l" t="t" r="r" b="b"/>
            <a:pathLst>
              <a:path w="5264420" h="5408647">
                <a:moveTo>
                  <a:pt x="0" y="0"/>
                </a:moveTo>
                <a:lnTo>
                  <a:pt x="5264420" y="0"/>
                </a:lnTo>
                <a:lnTo>
                  <a:pt x="5264420" y="5408647"/>
                </a:lnTo>
                <a:lnTo>
                  <a:pt x="0" y="5408647"/>
                </a:lnTo>
                <a:lnTo>
                  <a:pt x="0" y="0"/>
                </a:lnTo>
                <a:close/>
              </a:path>
            </a:pathLst>
          </a:custGeom>
          <a:blipFill>
            <a:blip r:embed="rId6">
              <a:extLst>
                <a:ext uri="{96DAC541-7B7A-43D3-8B79-37D633B846F1}">
                  <asvg:svgBlip xmlns:asvg="http://schemas.microsoft.com/office/drawing/2016/SVG/main" r:embed="rId7"/>
                </a:ext>
              </a:extLst>
            </a:blip>
            <a:stretch>
              <a:fillRect l="-103" r="-103"/>
            </a:stretch>
          </a:blipFill>
        </p:spPr>
      </p:sp>
      <p:sp>
        <p:nvSpPr>
          <p:cNvPr id="7" name="TextBox 7"/>
          <p:cNvSpPr txBox="1"/>
          <p:nvPr/>
        </p:nvSpPr>
        <p:spPr>
          <a:xfrm>
            <a:off x="2826649" y="852783"/>
            <a:ext cx="12634693" cy="968378"/>
          </a:xfrm>
          <a:prstGeom prst="rect">
            <a:avLst/>
          </a:prstGeom>
        </p:spPr>
        <p:txBody>
          <a:bodyPr lIns="0" tIns="0" rIns="0" bIns="0" rtlCol="0" anchor="t">
            <a:spAutoFit/>
          </a:bodyPr>
          <a:lstStyle/>
          <a:p>
            <a:pPr algn="ctr">
              <a:lnSpc>
                <a:spcPts val="6999"/>
              </a:lnSpc>
            </a:pPr>
            <a:r>
              <a:rPr lang="en-US" sz="6999" b="1">
                <a:solidFill>
                  <a:srgbClr val="1E4664"/>
                </a:solidFill>
                <a:latin typeface="Times New Roman Bold"/>
                <a:ea typeface="Times New Roman Bold"/>
                <a:cs typeface="Times New Roman Bold"/>
                <a:sym typeface="Times New Roman Bold"/>
              </a:rPr>
              <a:t>Agenda</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179" b="-179"/>
              </a:stretch>
            </a:blipFill>
          </p:spPr>
        </p:sp>
      </p:grpSp>
      <p:sp>
        <p:nvSpPr>
          <p:cNvPr id="4" name="TextBox 4"/>
          <p:cNvSpPr txBox="1"/>
          <p:nvPr/>
        </p:nvSpPr>
        <p:spPr>
          <a:xfrm>
            <a:off x="381000" y="1777336"/>
            <a:ext cx="16560517" cy="7840031"/>
          </a:xfrm>
          <a:prstGeom prst="rect">
            <a:avLst/>
          </a:prstGeom>
        </p:spPr>
        <p:txBody>
          <a:bodyPr wrap="square" lIns="0" tIns="0" rIns="0" bIns="0" rtlCol="0" anchor="t">
            <a:spAutoFit/>
          </a:bodyPr>
          <a:lstStyle/>
          <a:p>
            <a:pPr algn="just">
              <a:lnSpc>
                <a:spcPts val="3424"/>
              </a:lnSpc>
            </a:pPr>
            <a:r>
              <a:rPr lang="en-US" sz="2499" b="1" dirty="0">
                <a:solidFill>
                  <a:srgbClr val="1E4664"/>
                </a:solidFill>
                <a:latin typeface="Times New Roman Bold"/>
                <a:ea typeface="Times New Roman Bold"/>
                <a:cs typeface="Times New Roman Bold"/>
                <a:sym typeface="Times New Roman Bold"/>
              </a:rPr>
              <a:t>Introduction </a:t>
            </a:r>
          </a:p>
          <a:p>
            <a:pPr algn="just">
              <a:lnSpc>
                <a:spcPts val="3424"/>
              </a:lnSpc>
            </a:pPr>
            <a:endParaRPr lang="en-US" sz="2499" b="1" dirty="0">
              <a:solidFill>
                <a:srgbClr val="1E4664"/>
              </a:solidFill>
              <a:latin typeface="Times New Roman Bold"/>
              <a:ea typeface="Times New Roman Bold"/>
              <a:cs typeface="Times New Roman Bold"/>
              <a:sym typeface="Times New Roman Bold"/>
            </a:endParaRPr>
          </a:p>
          <a:p>
            <a:pPr algn="just">
              <a:lnSpc>
                <a:spcPts val="3424"/>
              </a:lnSpc>
            </a:pPr>
            <a:r>
              <a:rPr lang="en-US" sz="2499" dirty="0">
                <a:solidFill>
                  <a:srgbClr val="1E4664"/>
                </a:solidFill>
                <a:latin typeface="Times New Roman MT"/>
                <a:ea typeface="Times New Roman MT"/>
                <a:cs typeface="Times New Roman MT"/>
                <a:sym typeface="Times New Roman MT"/>
              </a:rPr>
              <a:t>Digital banking has been responsible for growing transaction volumes, but it's also made bank fraud more complex. Traditional rule-based and single model techniques can fall short when it comes to non-linear and evolving fraud patterns, and false positives can lead to customer friction (Manzoor &amp; Aslam, 2025; Naeem, Butt &amp; </a:t>
            </a:r>
            <a:r>
              <a:rPr lang="en-US" sz="2499" dirty="0" err="1">
                <a:solidFill>
                  <a:srgbClr val="1E4664"/>
                </a:solidFill>
                <a:latin typeface="Times New Roman MT"/>
                <a:ea typeface="Times New Roman MT"/>
                <a:cs typeface="Times New Roman MT"/>
                <a:sym typeface="Times New Roman MT"/>
              </a:rPr>
              <a:t>Javeid</a:t>
            </a:r>
            <a:r>
              <a:rPr lang="en-US" sz="2499" dirty="0">
                <a:solidFill>
                  <a:srgbClr val="1E4664"/>
                </a:solidFill>
                <a:latin typeface="Times New Roman MT"/>
                <a:ea typeface="Times New Roman MT"/>
                <a:cs typeface="Times New Roman MT"/>
                <a:sym typeface="Times New Roman MT"/>
              </a:rPr>
              <a:t>, 2026) .</a:t>
            </a:r>
          </a:p>
          <a:p>
            <a:pPr algn="just">
              <a:lnSpc>
                <a:spcPts val="3424"/>
              </a:lnSpc>
            </a:pPr>
            <a:endParaRPr lang="en-US" sz="2499" dirty="0">
              <a:solidFill>
                <a:srgbClr val="1E4664"/>
              </a:solidFill>
              <a:latin typeface="Times New Roman MT"/>
              <a:ea typeface="Times New Roman MT"/>
              <a:cs typeface="Times New Roman MT"/>
              <a:sym typeface="Times New Roman MT"/>
            </a:endParaRPr>
          </a:p>
          <a:p>
            <a:pPr algn="just">
              <a:lnSpc>
                <a:spcPts val="3424"/>
              </a:lnSpc>
            </a:pPr>
            <a:r>
              <a:rPr lang="en-US" sz="2499" b="1" dirty="0">
                <a:solidFill>
                  <a:srgbClr val="1E4664"/>
                </a:solidFill>
                <a:latin typeface="Times New Roman Bold"/>
                <a:ea typeface="Times New Roman Bold"/>
                <a:cs typeface="Times New Roman Bold"/>
                <a:sym typeface="Times New Roman Bold"/>
              </a:rPr>
              <a:t>Research Aim</a:t>
            </a:r>
          </a:p>
          <a:p>
            <a:pPr marL="723819" lvl="2" indent="-342900" algn="just">
              <a:lnSpc>
                <a:spcPts val="3424"/>
              </a:lnSpc>
              <a:buFont typeface="Courier New" panose="02070309020205020404" pitchFamily="49" charset="0"/>
              <a:buChar char="o"/>
            </a:pPr>
            <a:r>
              <a:rPr lang="en-US" sz="2500" dirty="0">
                <a:solidFill>
                  <a:srgbClr val="1E4664"/>
                </a:solidFill>
                <a:latin typeface="Times New Roman" panose="02020603050405020304" pitchFamily="18" charset="0"/>
                <a:ea typeface="Times New Roman MT"/>
                <a:cs typeface="Times New Roman" panose="02020603050405020304" pitchFamily="18" charset="0"/>
                <a:sym typeface="Times New Roman MT"/>
              </a:rPr>
              <a:t>To </a:t>
            </a:r>
            <a:r>
              <a:rPr lang="en-US" sz="2500" dirty="0">
                <a:solidFill>
                  <a:schemeClr val="tx2"/>
                </a:solidFill>
                <a:latin typeface="Times New Roman" panose="02020603050405020304" pitchFamily="18" charset="0"/>
                <a:cs typeface="Times New Roman" panose="02020603050405020304" pitchFamily="18" charset="0"/>
              </a:rPr>
              <a:t>develop a machine-learning-based ensemble model that enhances fraud detection precision and </a:t>
            </a:r>
            <a:r>
              <a:rPr lang="en-US" sz="2500" dirty="0" err="1">
                <a:solidFill>
                  <a:schemeClr val="tx2"/>
                </a:solidFill>
                <a:latin typeface="Times New Roman" panose="02020603050405020304" pitchFamily="18" charset="0"/>
                <a:cs typeface="Times New Roman" panose="02020603050405020304" pitchFamily="18" charset="0"/>
              </a:rPr>
              <a:t>minimises</a:t>
            </a:r>
            <a:r>
              <a:rPr lang="en-US" sz="2500" dirty="0">
                <a:solidFill>
                  <a:schemeClr val="tx2"/>
                </a:solidFill>
                <a:latin typeface="Times New Roman" panose="02020603050405020304" pitchFamily="18" charset="0"/>
                <a:cs typeface="Times New Roman" panose="02020603050405020304" pitchFamily="18" charset="0"/>
              </a:rPr>
              <a:t> false positives in high-velocity and diverse digital banking transactions.</a:t>
            </a:r>
            <a:endParaRPr lang="en-IN" sz="2500" dirty="0">
              <a:solidFill>
                <a:schemeClr val="tx2"/>
              </a:solidFill>
              <a:latin typeface="Times New Roman" panose="02020603050405020304" pitchFamily="18" charset="0"/>
              <a:cs typeface="Times New Roman" panose="02020603050405020304" pitchFamily="18" charset="0"/>
            </a:endParaRPr>
          </a:p>
          <a:p>
            <a:pPr marL="380919" lvl="2" algn="just">
              <a:lnSpc>
                <a:spcPts val="3424"/>
              </a:lnSpc>
            </a:pPr>
            <a:r>
              <a:rPr lang="en-US" sz="2499" b="1" dirty="0">
                <a:solidFill>
                  <a:schemeClr val="accent1">
                    <a:lumMod val="75000"/>
                  </a:schemeClr>
                </a:solidFill>
                <a:latin typeface="Times New Roman Bold"/>
                <a:ea typeface="Times New Roman Bold"/>
                <a:cs typeface="Times New Roman Bold"/>
                <a:sym typeface="Times New Roman Bold"/>
              </a:rPr>
              <a:t>Research Objectives</a:t>
            </a:r>
          </a:p>
          <a:p>
            <a:pPr marL="342900" lvl="0" indent="-342900" algn="just">
              <a:buFont typeface="Courier New" panose="02070309020205020404" pitchFamily="49" charset="0"/>
              <a:buChar char="o"/>
            </a:pPr>
            <a:r>
              <a:rPr lang="en-IN" sz="2500" dirty="0">
                <a:solidFill>
                  <a:schemeClr val="accent1">
                    <a:lumMod val="75000"/>
                  </a:schemeClr>
                </a:solidFill>
                <a:latin typeface="Times New Roman" panose="02020603050405020304" pitchFamily="18" charset="0"/>
                <a:cs typeface="Times New Roman" panose="02020603050405020304" pitchFamily="18" charset="0"/>
              </a:rPr>
              <a:t>To identify the recent trends and challenges in fraud detection for high-velocity digital banking transactions, with particular emphasis on class imbalance, missing data, and evolving fraud patterns. </a:t>
            </a:r>
          </a:p>
          <a:p>
            <a:pPr marL="342900" lvl="0" indent="-342900" algn="just">
              <a:buFont typeface="Courier New" panose="02070309020205020404" pitchFamily="49" charset="0"/>
              <a:buChar char="o"/>
            </a:pPr>
            <a:r>
              <a:rPr lang="en-IN" sz="2500" dirty="0">
                <a:solidFill>
                  <a:schemeClr val="accent1">
                    <a:lumMod val="75000"/>
                  </a:schemeClr>
                </a:solidFill>
                <a:latin typeface="Times New Roman" panose="02020603050405020304" pitchFamily="18" charset="0"/>
                <a:cs typeface="Times New Roman" panose="02020603050405020304" pitchFamily="18" charset="0"/>
              </a:rPr>
              <a:t>To examine the effectiveness of machine learning-based ensemble techniques in improving fraud detection performance compared with individual machine learning algorithms. </a:t>
            </a:r>
          </a:p>
          <a:p>
            <a:pPr marL="342900" lvl="0" indent="-342900" algn="just">
              <a:buFont typeface="Courier New" panose="02070309020205020404" pitchFamily="49" charset="0"/>
              <a:buChar char="o"/>
            </a:pPr>
            <a:r>
              <a:rPr lang="en-IN" sz="2500" dirty="0">
                <a:solidFill>
                  <a:schemeClr val="accent1">
                    <a:lumMod val="75000"/>
                  </a:schemeClr>
                </a:solidFill>
                <a:latin typeface="Times New Roman" panose="02020603050405020304" pitchFamily="18" charset="0"/>
                <a:cs typeface="Times New Roman" panose="02020603050405020304" pitchFamily="18" charset="0"/>
              </a:rPr>
              <a:t>To assess the impact of feature engineering, data pre-processing, and ensemble learning strategies on improving fraud detection precision while reducing false positives in digital banking transactions. </a:t>
            </a:r>
          </a:p>
          <a:p>
            <a:pPr marL="342900" lvl="0" indent="-342900" algn="just">
              <a:buFont typeface="Courier New" panose="02070309020205020404" pitchFamily="49" charset="0"/>
              <a:buChar char="o"/>
            </a:pPr>
            <a:r>
              <a:rPr lang="en-IN" sz="2500" dirty="0">
                <a:solidFill>
                  <a:schemeClr val="accent1">
                    <a:lumMod val="75000"/>
                  </a:schemeClr>
                </a:solidFill>
                <a:latin typeface="Times New Roman" panose="02020603050405020304" pitchFamily="18" charset="0"/>
                <a:cs typeface="Times New Roman" panose="02020603050405020304" pitchFamily="18" charset="0"/>
              </a:rPr>
              <a:t>To determine the effectiveness of the proposed ensemble model by comparing its performance with baseline machine learning algorithms using evaluation metrics such as F1-score, AUC-ROC</a:t>
            </a:r>
            <a:r>
              <a:rPr lang="en-IN" sz="2500" b="1" dirty="0">
                <a:solidFill>
                  <a:schemeClr val="accent1">
                    <a:lumMod val="75000"/>
                  </a:schemeClr>
                </a:solidFill>
                <a:latin typeface="Times New Roman" panose="02020603050405020304" pitchFamily="18" charset="0"/>
                <a:cs typeface="Times New Roman" panose="02020603050405020304" pitchFamily="18" charset="0"/>
              </a:rPr>
              <a:t>, </a:t>
            </a:r>
            <a:r>
              <a:rPr lang="en-IN" sz="2500" dirty="0">
                <a:solidFill>
                  <a:schemeClr val="accent1">
                    <a:lumMod val="75000"/>
                  </a:schemeClr>
                </a:solidFill>
                <a:latin typeface="Times New Roman" panose="02020603050405020304" pitchFamily="18" charset="0"/>
                <a:cs typeface="Times New Roman" panose="02020603050405020304" pitchFamily="18" charset="0"/>
              </a:rPr>
              <a:t>precision, recall, and computational latency</a:t>
            </a:r>
          </a:p>
          <a:p>
            <a:pPr marL="571379" lvl="2" indent="-190460" algn="just">
              <a:lnSpc>
                <a:spcPts val="3424"/>
              </a:lnSpc>
              <a:buFont typeface="Arial"/>
              <a:buChar char="⚬"/>
            </a:pPr>
            <a:endParaRPr lang="en-US" sz="2499" b="1" dirty="0">
              <a:solidFill>
                <a:schemeClr val="accent1">
                  <a:lumMod val="75000"/>
                </a:schemeClr>
              </a:solidFill>
              <a:latin typeface="Times New Roman Bold"/>
              <a:ea typeface="Times New Roman Bold"/>
              <a:cs typeface="Times New Roman Bold"/>
              <a:sym typeface="Times New Roman Bold"/>
            </a:endParaRPr>
          </a:p>
        </p:txBody>
      </p:sp>
      <p:sp>
        <p:nvSpPr>
          <p:cNvPr id="5" name="Freeform 5"/>
          <p:cNvSpPr/>
          <p:nvPr/>
        </p:nvSpPr>
        <p:spPr>
          <a:xfrm flipH="1" flipV="1">
            <a:off x="-1730788" y="-862651"/>
            <a:ext cx="3461576" cy="4114800"/>
          </a:xfrm>
          <a:custGeom>
            <a:avLst/>
            <a:gdLst/>
            <a:ahLst/>
            <a:cxnLst/>
            <a:rect l="l" t="t" r="r" b="b"/>
            <a:pathLst>
              <a:path w="3461576" h="4114800">
                <a:moveTo>
                  <a:pt x="3461576" y="4114800"/>
                </a:moveTo>
                <a:lnTo>
                  <a:pt x="0" y="4114800"/>
                </a:lnTo>
                <a:lnTo>
                  <a:pt x="0" y="0"/>
                </a:lnTo>
                <a:lnTo>
                  <a:pt x="3461576" y="0"/>
                </a:lnTo>
                <a:lnTo>
                  <a:pt x="3461576" y="4114800"/>
                </a:lnTo>
                <a:close/>
              </a:path>
            </a:pathLst>
          </a:custGeom>
          <a:blipFill>
            <a:blip r:embed="rId4">
              <a:extLst>
                <a:ext uri="{96DAC541-7B7A-43D3-8B79-37D633B846F1}">
                  <asvg:svgBlip xmlns:asvg="http://schemas.microsoft.com/office/drawing/2016/SVG/main" r:embed="rId5"/>
                </a:ext>
              </a:extLst>
            </a:blip>
            <a:stretch>
              <a:fillRect t="-35" b="-35"/>
            </a:stretch>
          </a:blipFill>
        </p:spPr>
      </p:sp>
      <p:sp>
        <p:nvSpPr>
          <p:cNvPr id="6" name="Freeform 6"/>
          <p:cNvSpPr/>
          <p:nvPr/>
        </p:nvSpPr>
        <p:spPr>
          <a:xfrm>
            <a:off x="16203597" y="6803584"/>
            <a:ext cx="3461576" cy="4114800"/>
          </a:xfrm>
          <a:custGeom>
            <a:avLst/>
            <a:gdLst/>
            <a:ahLst/>
            <a:cxnLst/>
            <a:rect l="l" t="t" r="r" b="b"/>
            <a:pathLst>
              <a:path w="3461576" h="4114800">
                <a:moveTo>
                  <a:pt x="0" y="0"/>
                </a:moveTo>
                <a:lnTo>
                  <a:pt x="3461575" y="0"/>
                </a:lnTo>
                <a:lnTo>
                  <a:pt x="3461575"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t="-35" b="-35"/>
            </a:stretch>
          </a:blipFill>
        </p:spPr>
      </p:sp>
      <p:sp>
        <p:nvSpPr>
          <p:cNvPr id="7" name="TextBox 7"/>
          <p:cNvSpPr txBox="1"/>
          <p:nvPr/>
        </p:nvSpPr>
        <p:spPr>
          <a:xfrm>
            <a:off x="4679061" y="638175"/>
            <a:ext cx="8929888" cy="847725"/>
          </a:xfrm>
          <a:prstGeom prst="rect">
            <a:avLst/>
          </a:prstGeom>
        </p:spPr>
        <p:txBody>
          <a:bodyPr lIns="0" tIns="0" rIns="0" bIns="0" rtlCol="0" anchor="t">
            <a:spAutoFit/>
          </a:bodyPr>
          <a:lstStyle/>
          <a:p>
            <a:pPr algn="ctr">
              <a:lnSpc>
                <a:spcPts val="6000"/>
              </a:lnSpc>
            </a:pPr>
            <a:r>
              <a:rPr lang="en-US" sz="6000" b="1" dirty="0">
                <a:solidFill>
                  <a:srgbClr val="1E4664"/>
                </a:solidFill>
                <a:latin typeface="Times New Roman Bold"/>
                <a:ea typeface="Times New Roman Bold"/>
                <a:cs typeface="Times New Roman Bold"/>
                <a:sym typeface="Times New Roman Bold"/>
              </a:rPr>
              <a:t>Research Aim and objectives</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3810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179" b="-179"/>
              </a:stretch>
            </a:blipFill>
          </p:spPr>
        </p:sp>
      </p:grpSp>
      <p:sp>
        <p:nvSpPr>
          <p:cNvPr id="4" name="TextBox 4"/>
          <p:cNvSpPr txBox="1"/>
          <p:nvPr/>
        </p:nvSpPr>
        <p:spPr>
          <a:xfrm>
            <a:off x="1237040" y="914400"/>
            <a:ext cx="10899515" cy="8559279"/>
          </a:xfrm>
          <a:prstGeom prst="rect">
            <a:avLst/>
          </a:prstGeom>
        </p:spPr>
        <p:txBody>
          <a:bodyPr lIns="0" tIns="0" rIns="0" bIns="0" rtlCol="0" anchor="t">
            <a:spAutoFit/>
          </a:bodyPr>
          <a:lstStyle/>
          <a:p>
            <a:pPr algn="just">
              <a:lnSpc>
                <a:spcPts val="4957"/>
              </a:lnSpc>
            </a:pPr>
            <a:r>
              <a:rPr lang="en-US" sz="1983" dirty="0">
                <a:solidFill>
                  <a:srgbClr val="1E4664"/>
                </a:solidFill>
                <a:latin typeface="Times New Roman MT"/>
                <a:ea typeface="Times New Roman MT"/>
                <a:cs typeface="Times New Roman MT"/>
                <a:sym typeface="Times New Roman MT"/>
              </a:rPr>
              <a:t>The literature reveals that: As the literature indicates:</a:t>
            </a:r>
          </a:p>
          <a:p>
            <a:pPr marL="453417" lvl="2" indent="-151139" algn="just">
              <a:lnSpc>
                <a:spcPts val="4957"/>
              </a:lnSpc>
              <a:buFont typeface="Arial"/>
              <a:buChar char="⚬"/>
            </a:pPr>
            <a:r>
              <a:rPr lang="en-US" sz="1983" dirty="0">
                <a:solidFill>
                  <a:srgbClr val="1E4664"/>
                </a:solidFill>
                <a:latin typeface="Times New Roman MT"/>
                <a:ea typeface="Times New Roman MT"/>
                <a:cs typeface="Times New Roman MT"/>
                <a:sym typeface="Times New Roman MT"/>
              </a:rPr>
              <a:t>Class imbalance, false positives, model selection and computational efficiency were identified as key issues in digital banking fraud detection, according to research.</a:t>
            </a:r>
          </a:p>
          <a:p>
            <a:pPr marL="476274" lvl="2" indent="-158758" algn="just">
              <a:lnSpc>
                <a:spcPts val="5207"/>
              </a:lnSpc>
              <a:buFont typeface="Arial"/>
              <a:buChar char="⚬"/>
            </a:pPr>
            <a:r>
              <a:rPr lang="en-US" sz="2082" dirty="0">
                <a:solidFill>
                  <a:srgbClr val="1E4664"/>
                </a:solidFill>
                <a:latin typeface="Times New Roman MT"/>
                <a:ea typeface="Times New Roman MT"/>
                <a:cs typeface="Times New Roman MT"/>
                <a:sym typeface="Times New Roman MT"/>
              </a:rPr>
              <a:t>SMOTE and feature engineering have been extensively explored solutions for dealing with imbalanced data, with ensemble methods harnessing the strengths of multiple classifiers(George et al., 2025; Guterres et al., 2026; Rajasekar et al., 2026). Deep-learning methods can achieve good predictive performance; however, at significantly higher computational costs.</a:t>
            </a:r>
          </a:p>
          <a:p>
            <a:pPr marL="453409" lvl="2" indent="-151136" algn="just">
              <a:lnSpc>
                <a:spcPts val="4957"/>
              </a:lnSpc>
            </a:pPr>
            <a:r>
              <a:rPr lang="en-US" sz="1983" b="1" dirty="0">
                <a:solidFill>
                  <a:srgbClr val="1E4664"/>
                </a:solidFill>
                <a:latin typeface="Times New Roman Bold"/>
                <a:ea typeface="Times New Roman Bold"/>
                <a:cs typeface="Times New Roman Bold"/>
                <a:sym typeface="Times New Roman Bold"/>
              </a:rPr>
              <a:t>Research Gap</a:t>
            </a:r>
          </a:p>
          <a:p>
            <a:pPr marL="453417" lvl="2" indent="-151139" algn="just">
              <a:lnSpc>
                <a:spcPts val="4957"/>
              </a:lnSpc>
              <a:buFont typeface="Arial"/>
              <a:buChar char="⚬"/>
            </a:pPr>
            <a:r>
              <a:rPr lang="en-US" sz="1983" dirty="0">
                <a:solidFill>
                  <a:srgbClr val="1E4664"/>
                </a:solidFill>
                <a:latin typeface="Times New Roman MT"/>
                <a:ea typeface="Times New Roman MT"/>
                <a:cs typeface="Times New Roman MT"/>
                <a:sym typeface="Times New Roman MT"/>
              </a:rPr>
              <a:t>Some important balance between recalling fraud and reducing the false-positive rate, computational efficiency and robustness to changes in data conditions is still difficult to achieve in the existing research.</a:t>
            </a:r>
          </a:p>
          <a:p>
            <a:pPr marL="453417" lvl="2" indent="-151139" algn="just">
              <a:lnSpc>
                <a:spcPts val="4957"/>
              </a:lnSpc>
            </a:pPr>
            <a:endParaRPr lang="en-US" sz="1983" dirty="0">
              <a:solidFill>
                <a:srgbClr val="1E4664"/>
              </a:solidFill>
              <a:latin typeface="Times New Roman MT"/>
              <a:ea typeface="Times New Roman MT"/>
              <a:cs typeface="Times New Roman MT"/>
              <a:sym typeface="Times New Roman MT"/>
            </a:endParaRPr>
          </a:p>
        </p:txBody>
      </p:sp>
      <p:sp>
        <p:nvSpPr>
          <p:cNvPr id="5" name="Freeform 5"/>
          <p:cNvSpPr/>
          <p:nvPr/>
        </p:nvSpPr>
        <p:spPr>
          <a:xfrm flipH="1" flipV="1">
            <a:off x="-1730788" y="-862651"/>
            <a:ext cx="3461576" cy="4114800"/>
          </a:xfrm>
          <a:custGeom>
            <a:avLst/>
            <a:gdLst/>
            <a:ahLst/>
            <a:cxnLst/>
            <a:rect l="l" t="t" r="r" b="b"/>
            <a:pathLst>
              <a:path w="3461576" h="4114800">
                <a:moveTo>
                  <a:pt x="3461576" y="4114800"/>
                </a:moveTo>
                <a:lnTo>
                  <a:pt x="0" y="4114800"/>
                </a:lnTo>
                <a:lnTo>
                  <a:pt x="0" y="0"/>
                </a:lnTo>
                <a:lnTo>
                  <a:pt x="3461576" y="0"/>
                </a:lnTo>
                <a:lnTo>
                  <a:pt x="3461576" y="4114800"/>
                </a:lnTo>
                <a:close/>
              </a:path>
            </a:pathLst>
          </a:custGeom>
          <a:blipFill>
            <a:blip r:embed="rId4">
              <a:extLst>
                <a:ext uri="{96DAC541-7B7A-43D3-8B79-37D633B846F1}">
                  <asvg:svgBlip xmlns:asvg="http://schemas.microsoft.com/office/drawing/2016/SVG/main" r:embed="rId5"/>
                </a:ext>
              </a:extLst>
            </a:blip>
            <a:stretch>
              <a:fillRect t="-35" b="-35"/>
            </a:stretch>
          </a:blipFill>
        </p:spPr>
      </p:sp>
      <p:sp>
        <p:nvSpPr>
          <p:cNvPr id="6" name="Freeform 6"/>
          <p:cNvSpPr/>
          <p:nvPr/>
        </p:nvSpPr>
        <p:spPr>
          <a:xfrm>
            <a:off x="16203597" y="6803584"/>
            <a:ext cx="3461576" cy="4114800"/>
          </a:xfrm>
          <a:custGeom>
            <a:avLst/>
            <a:gdLst/>
            <a:ahLst/>
            <a:cxnLst/>
            <a:rect l="l" t="t" r="r" b="b"/>
            <a:pathLst>
              <a:path w="3461576" h="4114800">
                <a:moveTo>
                  <a:pt x="0" y="0"/>
                </a:moveTo>
                <a:lnTo>
                  <a:pt x="3461575" y="0"/>
                </a:lnTo>
                <a:lnTo>
                  <a:pt x="3461575"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t="-35" b="-35"/>
            </a:stretch>
          </a:blipFill>
        </p:spPr>
      </p:sp>
      <p:grpSp>
        <p:nvGrpSpPr>
          <p:cNvPr id="7" name="Group 7"/>
          <p:cNvGrpSpPr/>
          <p:nvPr/>
        </p:nvGrpSpPr>
        <p:grpSpPr>
          <a:xfrm>
            <a:off x="13598109" y="2836135"/>
            <a:ext cx="3221831" cy="3157395"/>
            <a:chOff x="0" y="0"/>
            <a:chExt cx="4295775" cy="4209860"/>
          </a:xfrm>
        </p:grpSpPr>
        <p:sp>
          <p:nvSpPr>
            <p:cNvPr id="8" name="Freeform 8"/>
            <p:cNvSpPr/>
            <p:nvPr/>
          </p:nvSpPr>
          <p:spPr>
            <a:xfrm>
              <a:off x="0" y="0"/>
              <a:ext cx="4295775" cy="4209923"/>
            </a:xfrm>
            <a:custGeom>
              <a:avLst/>
              <a:gdLst/>
              <a:ahLst/>
              <a:cxnLst/>
              <a:rect l="l" t="t" r="r" b="b"/>
              <a:pathLst>
                <a:path w="4295775" h="4209923">
                  <a:moveTo>
                    <a:pt x="0" y="0"/>
                  </a:moveTo>
                  <a:lnTo>
                    <a:pt x="4295775" y="0"/>
                  </a:lnTo>
                  <a:lnTo>
                    <a:pt x="4295775" y="4209923"/>
                  </a:lnTo>
                  <a:lnTo>
                    <a:pt x="0" y="4209923"/>
                  </a:lnTo>
                  <a:lnTo>
                    <a:pt x="0" y="0"/>
                  </a:lnTo>
                  <a:close/>
                </a:path>
              </a:pathLst>
            </a:custGeom>
            <a:blipFill>
              <a:blip r:embed="rId6"/>
              <a:stretch>
                <a:fillRect t="-278" b="-277"/>
              </a:stretch>
            </a:blipFill>
          </p:spPr>
        </p:sp>
      </p:grpSp>
      <p:sp>
        <p:nvSpPr>
          <p:cNvPr id="9" name="TextBox 9"/>
          <p:cNvSpPr txBox="1"/>
          <p:nvPr/>
        </p:nvSpPr>
        <p:spPr>
          <a:xfrm>
            <a:off x="6343573" y="638175"/>
            <a:ext cx="7523769" cy="769441"/>
          </a:xfrm>
          <a:prstGeom prst="rect">
            <a:avLst/>
          </a:prstGeom>
        </p:spPr>
        <p:txBody>
          <a:bodyPr wrap="square" lIns="0" tIns="0" rIns="0" bIns="0" rtlCol="0" anchor="t">
            <a:spAutoFit/>
          </a:bodyPr>
          <a:lstStyle/>
          <a:p>
            <a:pPr algn="ctr">
              <a:lnSpc>
                <a:spcPts val="6000"/>
              </a:lnSpc>
            </a:pPr>
            <a:r>
              <a:rPr lang="en-US" sz="6000" b="1" dirty="0">
                <a:solidFill>
                  <a:srgbClr val="1E4664"/>
                </a:solidFill>
                <a:latin typeface="Times New Roman Bold"/>
                <a:ea typeface="Times New Roman Bold"/>
                <a:cs typeface="Times New Roman Bold"/>
                <a:sym typeface="Times New Roman Bold"/>
              </a:rPr>
              <a:t>Literature Review</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179" b="-179"/>
              </a:stretch>
            </a:blipFill>
          </p:spPr>
        </p:sp>
      </p:grpSp>
      <p:sp>
        <p:nvSpPr>
          <p:cNvPr id="4" name="Freeform 4"/>
          <p:cNvSpPr/>
          <p:nvPr/>
        </p:nvSpPr>
        <p:spPr>
          <a:xfrm>
            <a:off x="966311" y="5468074"/>
            <a:ext cx="6664033" cy="6647374"/>
          </a:xfrm>
          <a:custGeom>
            <a:avLst/>
            <a:gdLst/>
            <a:ahLst/>
            <a:cxnLst/>
            <a:rect l="l" t="t" r="r" b="b"/>
            <a:pathLst>
              <a:path w="6664033" h="6647374">
                <a:moveTo>
                  <a:pt x="0" y="0"/>
                </a:moveTo>
                <a:lnTo>
                  <a:pt x="6664033" y="0"/>
                </a:lnTo>
                <a:lnTo>
                  <a:pt x="6664033" y="6647374"/>
                </a:lnTo>
                <a:lnTo>
                  <a:pt x="0" y="6647374"/>
                </a:lnTo>
                <a:lnTo>
                  <a:pt x="0" y="0"/>
                </a:lnTo>
                <a:close/>
              </a:path>
            </a:pathLst>
          </a:custGeom>
          <a:blipFill>
            <a:blip r:embed="rId4">
              <a:extLst>
                <a:ext uri="{96DAC541-7B7A-43D3-8B79-37D633B846F1}">
                  <asvg:svgBlip xmlns:asvg="http://schemas.microsoft.com/office/drawing/2016/SVG/main" r:embed="rId5"/>
                </a:ext>
              </a:extLst>
            </a:blip>
            <a:stretch>
              <a:fillRect l="-17" r="-18"/>
            </a:stretch>
          </a:blipFill>
        </p:spPr>
      </p:sp>
      <p:sp>
        <p:nvSpPr>
          <p:cNvPr id="5" name="Freeform 5"/>
          <p:cNvSpPr/>
          <p:nvPr/>
        </p:nvSpPr>
        <p:spPr>
          <a:xfrm>
            <a:off x="2817057" y="6194698"/>
            <a:ext cx="4195248" cy="3964505"/>
          </a:xfrm>
          <a:custGeom>
            <a:avLst/>
            <a:gdLst/>
            <a:ahLst/>
            <a:cxnLst/>
            <a:rect l="l" t="t" r="r" b="b"/>
            <a:pathLst>
              <a:path w="4195248" h="3964505">
                <a:moveTo>
                  <a:pt x="0" y="0"/>
                </a:moveTo>
                <a:lnTo>
                  <a:pt x="4195248" y="0"/>
                </a:lnTo>
                <a:lnTo>
                  <a:pt x="4195248" y="3964505"/>
                </a:lnTo>
                <a:lnTo>
                  <a:pt x="0" y="3964505"/>
                </a:lnTo>
                <a:lnTo>
                  <a:pt x="0" y="0"/>
                </a:lnTo>
                <a:close/>
              </a:path>
            </a:pathLst>
          </a:custGeom>
          <a:blipFill>
            <a:blip r:embed="rId6">
              <a:extLst>
                <a:ext uri="{96DAC541-7B7A-43D3-8B79-37D633B846F1}">
                  <asvg:svgBlip xmlns:asvg="http://schemas.microsoft.com/office/drawing/2016/SVG/main" r:embed="rId7"/>
                </a:ext>
              </a:extLst>
            </a:blip>
            <a:stretch>
              <a:fillRect t="-30" b="-30"/>
            </a:stretch>
          </a:blipFill>
        </p:spPr>
      </p:sp>
      <p:sp>
        <p:nvSpPr>
          <p:cNvPr id="6" name="Freeform 6"/>
          <p:cNvSpPr/>
          <p:nvPr/>
        </p:nvSpPr>
        <p:spPr>
          <a:xfrm>
            <a:off x="315144" y="4191238"/>
            <a:ext cx="7315200" cy="1276836"/>
          </a:xfrm>
          <a:custGeom>
            <a:avLst/>
            <a:gdLst/>
            <a:ahLst/>
            <a:cxnLst/>
            <a:rect l="l" t="t" r="r" b="b"/>
            <a:pathLst>
              <a:path w="7315200" h="1276836">
                <a:moveTo>
                  <a:pt x="0" y="0"/>
                </a:moveTo>
                <a:lnTo>
                  <a:pt x="7315200" y="0"/>
                </a:lnTo>
                <a:lnTo>
                  <a:pt x="7315200" y="1276836"/>
                </a:lnTo>
                <a:lnTo>
                  <a:pt x="0" y="1276836"/>
                </a:lnTo>
                <a:lnTo>
                  <a:pt x="0" y="0"/>
                </a:lnTo>
                <a:close/>
              </a:path>
            </a:pathLst>
          </a:custGeom>
          <a:blipFill>
            <a:blip r:embed="rId8">
              <a:extLst>
                <a:ext uri="{96DAC541-7B7A-43D3-8B79-37D633B846F1}">
                  <asvg:svgBlip xmlns:asvg="http://schemas.microsoft.com/office/drawing/2016/SVG/main" r:embed="rId9"/>
                </a:ext>
              </a:extLst>
            </a:blip>
            <a:stretch>
              <a:fillRect t="-354" b="-353"/>
            </a:stretch>
          </a:blipFill>
        </p:spPr>
      </p:sp>
      <p:sp>
        <p:nvSpPr>
          <p:cNvPr id="7" name="TextBox 7"/>
          <p:cNvSpPr txBox="1"/>
          <p:nvPr/>
        </p:nvSpPr>
        <p:spPr>
          <a:xfrm>
            <a:off x="7928239" y="741150"/>
            <a:ext cx="9905600" cy="9369428"/>
          </a:xfrm>
          <a:prstGeom prst="rect">
            <a:avLst/>
          </a:prstGeom>
        </p:spPr>
        <p:txBody>
          <a:bodyPr lIns="0" tIns="0" rIns="0" bIns="0" rtlCol="0" anchor="t">
            <a:spAutoFit/>
          </a:bodyPr>
          <a:lstStyle/>
          <a:p>
            <a:pPr algn="l">
              <a:lnSpc>
                <a:spcPts val="4823"/>
              </a:lnSpc>
            </a:pPr>
            <a:r>
              <a:rPr lang="en-US" sz="2499">
                <a:solidFill>
                  <a:srgbClr val="1E4664"/>
                </a:solidFill>
                <a:latin typeface="Times New Roman MT"/>
                <a:ea typeface="Times New Roman MT"/>
                <a:cs typeface="Times New Roman MT"/>
                <a:sym typeface="Times New Roman MT"/>
              </a:rPr>
              <a:t>The approach undertaken in the project was a quantitative and computational approach that was based on secondary data.</a:t>
            </a:r>
          </a:p>
          <a:p>
            <a:pPr algn="l">
              <a:lnSpc>
                <a:spcPts val="4823"/>
              </a:lnSpc>
            </a:pPr>
            <a:r>
              <a:rPr lang="en-US" sz="2499" b="1">
                <a:solidFill>
                  <a:srgbClr val="1E4664"/>
                </a:solidFill>
                <a:latin typeface="Times New Roman Bold"/>
                <a:ea typeface="Times New Roman Bold"/>
                <a:cs typeface="Times New Roman Bold"/>
                <a:sym typeface="Times New Roman Bold"/>
              </a:rPr>
              <a:t>Dataset</a:t>
            </a:r>
          </a:p>
          <a:p>
            <a:pPr algn="l">
              <a:lnSpc>
                <a:spcPts val="4823"/>
              </a:lnSpc>
            </a:pPr>
            <a:r>
              <a:rPr lang="en-US" sz="2499">
                <a:solidFill>
                  <a:srgbClr val="1E4664"/>
                </a:solidFill>
                <a:latin typeface="Times New Roman MT"/>
                <a:ea typeface="Times New Roman MT"/>
                <a:cs typeface="Times New Roman MT"/>
                <a:sym typeface="Times New Roman MT"/>
              </a:rPr>
              <a:t>The Bank Account Fraud Dataset for NeurIPS 2022.</a:t>
            </a:r>
          </a:p>
          <a:p>
            <a:pPr marL="571379" lvl="2" indent="-190460" algn="l">
              <a:lnSpc>
                <a:spcPts val="4823"/>
              </a:lnSpc>
              <a:buFont typeface="Arial"/>
              <a:buChar char="⚬"/>
            </a:pPr>
            <a:r>
              <a:rPr lang="en-US" sz="2499">
                <a:solidFill>
                  <a:srgbClr val="1E4664"/>
                </a:solidFill>
                <a:latin typeface="Times New Roman MT"/>
                <a:ea typeface="Times New Roman MT"/>
                <a:cs typeface="Times New Roman MT"/>
                <a:sym typeface="Times New Roman MT"/>
              </a:rPr>
              <a:t>Nearly 1 million anonymised records</a:t>
            </a:r>
          </a:p>
          <a:p>
            <a:pPr marL="571379" lvl="2" indent="-190460" algn="l">
              <a:lnSpc>
                <a:spcPts val="4823"/>
              </a:lnSpc>
              <a:buFont typeface="Arial"/>
              <a:buChar char="⚬"/>
            </a:pPr>
            <a:r>
              <a:rPr lang="en-US" sz="2499">
                <a:solidFill>
                  <a:srgbClr val="1E4664"/>
                </a:solidFill>
                <a:latin typeface="Times New Roman MT"/>
                <a:ea typeface="Times New Roman MT"/>
                <a:cs typeface="Times New Roman MT"/>
                <a:sym typeface="Times New Roman MT"/>
              </a:rPr>
              <a:t>30 features</a:t>
            </a:r>
          </a:p>
          <a:p>
            <a:pPr marL="571379" lvl="2" indent="-190460" algn="l">
              <a:lnSpc>
                <a:spcPts val="4823"/>
              </a:lnSpc>
              <a:buFont typeface="Arial"/>
              <a:buChar char="⚬"/>
            </a:pPr>
            <a:r>
              <a:rPr lang="en-US" sz="2499">
                <a:solidFill>
                  <a:srgbClr val="1E4664"/>
                </a:solidFill>
                <a:latin typeface="Times New Roman MT"/>
                <a:ea typeface="Times New Roman MT"/>
                <a:cs typeface="Times New Roman MT"/>
                <a:sym typeface="Times New Roman MT"/>
              </a:rPr>
              <a:t>Severe class imbalance</a:t>
            </a:r>
          </a:p>
          <a:p>
            <a:pPr marL="571379" lvl="2" indent="-190460" algn="l">
              <a:lnSpc>
                <a:spcPts val="4823"/>
              </a:lnSpc>
            </a:pPr>
            <a:r>
              <a:rPr lang="en-US" sz="2499" b="1">
                <a:solidFill>
                  <a:srgbClr val="1E4664"/>
                </a:solidFill>
                <a:latin typeface="Times New Roman Bold"/>
                <a:ea typeface="Times New Roman Bold"/>
                <a:cs typeface="Times New Roman Bold"/>
                <a:sym typeface="Times New Roman Bold"/>
              </a:rPr>
              <a:t>Process</a:t>
            </a:r>
          </a:p>
          <a:p>
            <a:pPr marL="571379" lvl="2" indent="-190460" algn="l">
              <a:lnSpc>
                <a:spcPts val="4823"/>
              </a:lnSpc>
              <a:buFont typeface="Arial"/>
              <a:buChar char="⚬"/>
            </a:pPr>
            <a:r>
              <a:rPr lang="en-US" sz="2499">
                <a:solidFill>
                  <a:srgbClr val="1E4664"/>
                </a:solidFill>
                <a:latin typeface="Times New Roman MT"/>
                <a:ea typeface="Times New Roman MT"/>
                <a:cs typeface="Times New Roman MT"/>
                <a:sym typeface="Times New Roman MT"/>
              </a:rPr>
              <a:t>Data, pre-processing, 70/30 Stratified Split, SMOTE, Model Training, Ensemble, Evaluation</a:t>
            </a:r>
          </a:p>
          <a:p>
            <a:pPr marL="571379" lvl="2" indent="-190460" algn="l">
              <a:lnSpc>
                <a:spcPts val="4823"/>
              </a:lnSpc>
              <a:buFont typeface="Arial"/>
              <a:buChar char="⚬"/>
            </a:pPr>
            <a:r>
              <a:rPr lang="en-US" sz="2499">
                <a:solidFill>
                  <a:srgbClr val="1E4664"/>
                </a:solidFill>
                <a:latin typeface="Times New Roman MT"/>
                <a:ea typeface="Times New Roman MT"/>
                <a:cs typeface="Times New Roman MT"/>
                <a:sym typeface="Times New Roman MT"/>
              </a:rPr>
              <a:t>To prevent data leakage, SMOTE was only used on the train set.</a:t>
            </a:r>
          </a:p>
          <a:p>
            <a:pPr marL="571379" lvl="2" indent="-190460" algn="l">
              <a:lnSpc>
                <a:spcPts val="4823"/>
              </a:lnSpc>
            </a:pPr>
            <a:r>
              <a:rPr lang="en-US" sz="2499" b="1">
                <a:solidFill>
                  <a:srgbClr val="1E4664"/>
                </a:solidFill>
                <a:latin typeface="Times New Roman Bold"/>
                <a:ea typeface="Times New Roman Bold"/>
                <a:cs typeface="Times New Roman Bold"/>
                <a:sym typeface="Times New Roman Bold"/>
              </a:rPr>
              <a:t>Evaluation</a:t>
            </a:r>
          </a:p>
          <a:p>
            <a:pPr marL="571379" lvl="2" indent="-190460" algn="l">
              <a:lnSpc>
                <a:spcPts val="4823"/>
              </a:lnSpc>
              <a:buFont typeface="Arial"/>
              <a:buChar char="⚬"/>
            </a:pPr>
            <a:r>
              <a:rPr lang="en-US" sz="2499">
                <a:solidFill>
                  <a:srgbClr val="1E4664"/>
                </a:solidFill>
                <a:latin typeface="Times New Roman MT"/>
                <a:ea typeface="Times New Roman MT"/>
                <a:cs typeface="Times New Roman MT"/>
                <a:sym typeface="Times New Roman MT"/>
              </a:rPr>
              <a:t>Precision, Recall, F1-score, AUC-ROC, False Positive Rate and computational latency were used to assess performance.</a:t>
            </a:r>
          </a:p>
          <a:p>
            <a:pPr marL="571379" lvl="2" indent="-190460" algn="l">
              <a:lnSpc>
                <a:spcPts val="4823"/>
              </a:lnSpc>
            </a:pPr>
            <a:endParaRPr lang="en-US" sz="2499">
              <a:solidFill>
                <a:srgbClr val="1E4664"/>
              </a:solidFill>
              <a:latin typeface="Times New Roman MT"/>
              <a:ea typeface="Times New Roman MT"/>
              <a:cs typeface="Times New Roman MT"/>
              <a:sym typeface="Times New Roman MT"/>
            </a:endParaRPr>
          </a:p>
        </p:txBody>
      </p:sp>
      <p:sp>
        <p:nvSpPr>
          <p:cNvPr id="8" name="Freeform 8"/>
          <p:cNvSpPr/>
          <p:nvPr/>
        </p:nvSpPr>
        <p:spPr>
          <a:xfrm>
            <a:off x="1074201" y="134722"/>
            <a:ext cx="3840480" cy="4114800"/>
          </a:xfrm>
          <a:custGeom>
            <a:avLst/>
            <a:gdLst/>
            <a:ahLst/>
            <a:cxnLst/>
            <a:rect l="l" t="t" r="r" b="b"/>
            <a:pathLst>
              <a:path w="3840480" h="4114800">
                <a:moveTo>
                  <a:pt x="0" y="0"/>
                </a:moveTo>
                <a:lnTo>
                  <a:pt x="3840480" y="0"/>
                </a:lnTo>
                <a:lnTo>
                  <a:pt x="384048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347" r="-347"/>
            </a:stretch>
          </a:blipFill>
        </p:spPr>
      </p:sp>
      <p:sp>
        <p:nvSpPr>
          <p:cNvPr id="9" name="TextBox 9"/>
          <p:cNvSpPr txBox="1"/>
          <p:nvPr/>
        </p:nvSpPr>
        <p:spPr>
          <a:xfrm>
            <a:off x="694954" y="229972"/>
            <a:ext cx="12634693" cy="968378"/>
          </a:xfrm>
          <a:prstGeom prst="rect">
            <a:avLst/>
          </a:prstGeom>
        </p:spPr>
        <p:txBody>
          <a:bodyPr lIns="0" tIns="0" rIns="0" bIns="0" rtlCol="0" anchor="t">
            <a:spAutoFit/>
          </a:bodyPr>
          <a:lstStyle/>
          <a:p>
            <a:pPr algn="ctr">
              <a:lnSpc>
                <a:spcPts val="6999"/>
              </a:lnSpc>
            </a:pPr>
            <a:r>
              <a:rPr lang="en-US" sz="6999" b="1">
                <a:solidFill>
                  <a:srgbClr val="1E4664"/>
                </a:solidFill>
                <a:latin typeface="Times New Roman Bold"/>
                <a:ea typeface="Times New Roman Bold"/>
                <a:cs typeface="Times New Roman Bold"/>
                <a:sym typeface="Times New Roman Bold"/>
              </a:rPr>
              <a:t>Methodology</a:t>
            </a: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179" b="-179"/>
              </a:stretch>
            </a:blipFill>
          </p:spPr>
        </p:sp>
      </p:grpSp>
      <p:sp>
        <p:nvSpPr>
          <p:cNvPr id="4" name="TextBox 4"/>
          <p:cNvSpPr txBox="1"/>
          <p:nvPr/>
        </p:nvSpPr>
        <p:spPr>
          <a:xfrm>
            <a:off x="2288210" y="855393"/>
            <a:ext cx="13711571" cy="968378"/>
          </a:xfrm>
          <a:prstGeom prst="rect">
            <a:avLst/>
          </a:prstGeom>
        </p:spPr>
        <p:txBody>
          <a:bodyPr lIns="0" tIns="0" rIns="0" bIns="0" rtlCol="0" anchor="t">
            <a:spAutoFit/>
          </a:bodyPr>
          <a:lstStyle/>
          <a:p>
            <a:pPr algn="ctr">
              <a:lnSpc>
                <a:spcPts val="6999"/>
              </a:lnSpc>
            </a:pPr>
            <a:r>
              <a:rPr lang="en-US" sz="6999" b="1">
                <a:solidFill>
                  <a:srgbClr val="1E4664"/>
                </a:solidFill>
                <a:latin typeface="Times New Roman Bold"/>
                <a:ea typeface="Times New Roman Bold"/>
                <a:cs typeface="Times New Roman Bold"/>
                <a:sym typeface="Times New Roman Bold"/>
              </a:rPr>
              <a:t>Ethics</a:t>
            </a:r>
          </a:p>
        </p:txBody>
      </p:sp>
      <p:sp>
        <p:nvSpPr>
          <p:cNvPr id="5" name="Freeform 5"/>
          <p:cNvSpPr/>
          <p:nvPr/>
        </p:nvSpPr>
        <p:spPr>
          <a:xfrm flipH="1" flipV="1">
            <a:off x="-479708" y="-708298"/>
            <a:ext cx="3461576" cy="4114800"/>
          </a:xfrm>
          <a:custGeom>
            <a:avLst/>
            <a:gdLst/>
            <a:ahLst/>
            <a:cxnLst/>
            <a:rect l="l" t="t" r="r" b="b"/>
            <a:pathLst>
              <a:path w="3461576" h="4114800">
                <a:moveTo>
                  <a:pt x="3461576" y="4114800"/>
                </a:moveTo>
                <a:lnTo>
                  <a:pt x="0" y="4114800"/>
                </a:lnTo>
                <a:lnTo>
                  <a:pt x="0" y="0"/>
                </a:lnTo>
                <a:lnTo>
                  <a:pt x="3461576" y="0"/>
                </a:lnTo>
                <a:lnTo>
                  <a:pt x="3461576" y="4114800"/>
                </a:lnTo>
                <a:close/>
              </a:path>
            </a:pathLst>
          </a:custGeom>
          <a:blipFill>
            <a:blip r:embed="rId4">
              <a:extLst>
                <a:ext uri="{96DAC541-7B7A-43D3-8B79-37D633B846F1}">
                  <asvg:svgBlip xmlns:asvg="http://schemas.microsoft.com/office/drawing/2016/SVG/main" r:embed="rId5"/>
                </a:ext>
              </a:extLst>
            </a:blip>
            <a:stretch>
              <a:fillRect t="-35" b="-35"/>
            </a:stretch>
          </a:blipFill>
        </p:spPr>
      </p:sp>
      <p:grpSp>
        <p:nvGrpSpPr>
          <p:cNvPr id="6" name="Group 6"/>
          <p:cNvGrpSpPr/>
          <p:nvPr/>
        </p:nvGrpSpPr>
        <p:grpSpPr>
          <a:xfrm>
            <a:off x="12775149" y="5834596"/>
            <a:ext cx="4079843" cy="3998252"/>
            <a:chOff x="0" y="0"/>
            <a:chExt cx="5439791" cy="5331003"/>
          </a:xfrm>
        </p:grpSpPr>
        <p:sp>
          <p:nvSpPr>
            <p:cNvPr id="7" name="Freeform 7"/>
            <p:cNvSpPr/>
            <p:nvPr/>
          </p:nvSpPr>
          <p:spPr>
            <a:xfrm>
              <a:off x="0" y="0"/>
              <a:ext cx="5439791" cy="5330952"/>
            </a:xfrm>
            <a:custGeom>
              <a:avLst/>
              <a:gdLst/>
              <a:ahLst/>
              <a:cxnLst/>
              <a:rect l="l" t="t" r="r" b="b"/>
              <a:pathLst>
                <a:path w="5439791" h="5330952">
                  <a:moveTo>
                    <a:pt x="0" y="0"/>
                  </a:moveTo>
                  <a:lnTo>
                    <a:pt x="5439791" y="0"/>
                  </a:lnTo>
                  <a:lnTo>
                    <a:pt x="5439791" y="5330952"/>
                  </a:lnTo>
                  <a:lnTo>
                    <a:pt x="0" y="5330952"/>
                  </a:lnTo>
                  <a:lnTo>
                    <a:pt x="0" y="0"/>
                  </a:lnTo>
                  <a:close/>
                </a:path>
              </a:pathLst>
            </a:custGeom>
            <a:blipFill>
              <a:blip r:embed="rId6"/>
              <a:stretch>
                <a:fillRect t="-278" b="-279"/>
              </a:stretch>
            </a:blipFill>
          </p:spPr>
        </p:sp>
      </p:grpSp>
      <p:sp>
        <p:nvSpPr>
          <p:cNvPr id="8" name="TextBox 8"/>
          <p:cNvSpPr txBox="1"/>
          <p:nvPr/>
        </p:nvSpPr>
        <p:spPr>
          <a:xfrm>
            <a:off x="1432998" y="2060153"/>
            <a:ext cx="15422004" cy="4067175"/>
          </a:xfrm>
          <a:prstGeom prst="rect">
            <a:avLst/>
          </a:prstGeom>
        </p:spPr>
        <p:txBody>
          <a:bodyPr lIns="0" tIns="0" rIns="0" bIns="0" rtlCol="0" anchor="t">
            <a:spAutoFit/>
          </a:bodyPr>
          <a:lstStyle/>
          <a:p>
            <a:pPr marL="571379" lvl="2" indent="-190460" algn="just">
              <a:lnSpc>
                <a:spcPts val="4424"/>
              </a:lnSpc>
              <a:buFont typeface="Arial"/>
              <a:buChar char="⚬"/>
            </a:pPr>
            <a:r>
              <a:rPr lang="en-US" sz="2499">
                <a:solidFill>
                  <a:srgbClr val="1E4664"/>
                </a:solidFill>
                <a:latin typeface="Times New Roman MT"/>
                <a:ea typeface="Times New Roman MT"/>
                <a:cs typeface="Times New Roman MT"/>
                <a:sym typeface="Times New Roman MT"/>
              </a:rPr>
              <a:t>This project relied on a secondary dataset (pre-anonymised) that was made available to the public, and no primary data was collected or did human subjects participate.</a:t>
            </a:r>
          </a:p>
          <a:p>
            <a:pPr marL="571379" lvl="2" indent="-190460" algn="just">
              <a:lnSpc>
                <a:spcPts val="4424"/>
              </a:lnSpc>
              <a:buFont typeface="Arial"/>
              <a:buChar char="⚬"/>
            </a:pPr>
            <a:r>
              <a:rPr lang="en-US" sz="2499">
                <a:solidFill>
                  <a:srgbClr val="1E4664"/>
                </a:solidFill>
                <a:latin typeface="Times New Roman MT"/>
                <a:ea typeface="Times New Roman MT"/>
                <a:cs typeface="Times New Roman MT"/>
                <a:sym typeface="Times New Roman MT"/>
              </a:rPr>
              <a:t>There was no personally identifiable information used, so there were no participant-related risks such as informed consent, privacy or participant identification. The information was kept in a secure way on storage that was password-protected.</a:t>
            </a:r>
          </a:p>
          <a:p>
            <a:pPr marL="571379" lvl="2" indent="-190460" algn="just">
              <a:lnSpc>
                <a:spcPts val="4424"/>
              </a:lnSpc>
              <a:buFont typeface="Arial"/>
              <a:buChar char="⚬"/>
            </a:pPr>
            <a:r>
              <a:rPr lang="en-US" sz="2499">
                <a:solidFill>
                  <a:srgbClr val="1E4664"/>
                </a:solidFill>
                <a:latin typeface="Times New Roman MT"/>
                <a:ea typeface="Times New Roman MT"/>
                <a:cs typeface="Times New Roman MT"/>
                <a:sym typeface="Times New Roman MT"/>
              </a:rPr>
              <a:t>Ethics position: UREC2 Low Risk Human Participant Research Ethics documentation completed (no external or NHS approval required).</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179" b="-179"/>
              </a:stretch>
            </a:blipFill>
          </p:spPr>
        </p:sp>
      </p:grpSp>
      <p:sp>
        <p:nvSpPr>
          <p:cNvPr id="4" name="Freeform 4"/>
          <p:cNvSpPr/>
          <p:nvPr/>
        </p:nvSpPr>
        <p:spPr>
          <a:xfrm>
            <a:off x="-959653" y="-1028700"/>
            <a:ext cx="3461576" cy="4114800"/>
          </a:xfrm>
          <a:custGeom>
            <a:avLst/>
            <a:gdLst/>
            <a:ahLst/>
            <a:cxnLst/>
            <a:rect l="l" t="t" r="r" b="b"/>
            <a:pathLst>
              <a:path w="3461576" h="4114800">
                <a:moveTo>
                  <a:pt x="0" y="0"/>
                </a:moveTo>
                <a:lnTo>
                  <a:pt x="3461575" y="0"/>
                </a:lnTo>
                <a:lnTo>
                  <a:pt x="3461575"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t="-35" b="-35"/>
            </a:stretch>
          </a:blipFill>
        </p:spPr>
      </p:sp>
      <p:grpSp>
        <p:nvGrpSpPr>
          <p:cNvPr id="5" name="Group 5"/>
          <p:cNvGrpSpPr/>
          <p:nvPr/>
        </p:nvGrpSpPr>
        <p:grpSpPr>
          <a:xfrm>
            <a:off x="6940715" y="1380982"/>
            <a:ext cx="2967790" cy="8488375"/>
            <a:chOff x="0" y="0"/>
            <a:chExt cx="3957053" cy="11317834"/>
          </a:xfrm>
        </p:grpSpPr>
        <p:sp>
          <p:nvSpPr>
            <p:cNvPr id="6" name="Freeform 6"/>
            <p:cNvSpPr/>
            <p:nvPr/>
          </p:nvSpPr>
          <p:spPr>
            <a:xfrm>
              <a:off x="0" y="0"/>
              <a:ext cx="3957066" cy="11317859"/>
            </a:xfrm>
            <a:custGeom>
              <a:avLst/>
              <a:gdLst/>
              <a:ahLst/>
              <a:cxnLst/>
              <a:rect l="l" t="t" r="r" b="b"/>
              <a:pathLst>
                <a:path w="3957066" h="11317859">
                  <a:moveTo>
                    <a:pt x="0" y="0"/>
                  </a:moveTo>
                  <a:lnTo>
                    <a:pt x="3957066" y="0"/>
                  </a:lnTo>
                  <a:lnTo>
                    <a:pt x="3957066" y="11317859"/>
                  </a:lnTo>
                  <a:lnTo>
                    <a:pt x="0" y="11317859"/>
                  </a:lnTo>
                  <a:lnTo>
                    <a:pt x="0" y="0"/>
                  </a:lnTo>
                  <a:close/>
                </a:path>
              </a:pathLst>
            </a:custGeom>
            <a:blipFill>
              <a:blip r:embed="rId6"/>
              <a:stretch>
                <a:fillRect l="-52" r="-52"/>
              </a:stretch>
            </a:blipFill>
          </p:spPr>
        </p:sp>
      </p:grpSp>
      <p:sp>
        <p:nvSpPr>
          <p:cNvPr id="7" name="Freeform 7"/>
          <p:cNvSpPr/>
          <p:nvPr/>
        </p:nvSpPr>
        <p:spPr>
          <a:xfrm>
            <a:off x="0" y="3567770"/>
            <a:ext cx="5638657" cy="5337934"/>
          </a:xfrm>
          <a:custGeom>
            <a:avLst/>
            <a:gdLst/>
            <a:ahLst/>
            <a:cxnLst/>
            <a:rect l="l" t="t" r="r" b="b"/>
            <a:pathLst>
              <a:path w="5638657" h="5337934">
                <a:moveTo>
                  <a:pt x="0" y="0"/>
                </a:moveTo>
                <a:lnTo>
                  <a:pt x="5638657" y="0"/>
                </a:lnTo>
                <a:lnTo>
                  <a:pt x="5638657" y="5337934"/>
                </a:lnTo>
                <a:lnTo>
                  <a:pt x="0" y="5337934"/>
                </a:lnTo>
                <a:lnTo>
                  <a:pt x="0" y="0"/>
                </a:lnTo>
                <a:close/>
              </a:path>
            </a:pathLst>
          </a:custGeom>
          <a:blipFill>
            <a:blip r:embed="rId7">
              <a:extLst>
                <a:ext uri="{96DAC541-7B7A-43D3-8B79-37D633B846F1}">
                  <asvg:svgBlip xmlns:asvg="http://schemas.microsoft.com/office/drawing/2016/SVG/main" r:embed="rId8"/>
                </a:ext>
              </a:extLst>
            </a:blip>
            <a:stretch>
              <a:fillRect t="-229" b="-229"/>
            </a:stretch>
          </a:blipFill>
        </p:spPr>
      </p:sp>
      <p:sp>
        <p:nvSpPr>
          <p:cNvPr id="8" name="TextBox 8"/>
          <p:cNvSpPr txBox="1"/>
          <p:nvPr/>
        </p:nvSpPr>
        <p:spPr>
          <a:xfrm>
            <a:off x="2734199" y="412604"/>
            <a:ext cx="13503583" cy="968378"/>
          </a:xfrm>
          <a:prstGeom prst="rect">
            <a:avLst/>
          </a:prstGeom>
        </p:spPr>
        <p:txBody>
          <a:bodyPr lIns="0" tIns="0" rIns="0" bIns="0" rtlCol="0" anchor="t">
            <a:spAutoFit/>
          </a:bodyPr>
          <a:lstStyle/>
          <a:p>
            <a:pPr algn="l">
              <a:lnSpc>
                <a:spcPts val="6999"/>
              </a:lnSpc>
            </a:pPr>
            <a:r>
              <a:rPr lang="en-US" sz="6999" b="1">
                <a:solidFill>
                  <a:srgbClr val="1E4664"/>
                </a:solidFill>
                <a:latin typeface="Times New Roman Bold"/>
                <a:ea typeface="Times New Roman Bold"/>
                <a:cs typeface="Times New Roman Bold"/>
                <a:sym typeface="Times New Roman Bold"/>
              </a:rPr>
              <a:t>Project Design / Implementation</a:t>
            </a:r>
          </a:p>
        </p:txBody>
      </p:sp>
      <p:sp>
        <p:nvSpPr>
          <p:cNvPr id="9" name="TextBox 9"/>
          <p:cNvSpPr txBox="1"/>
          <p:nvPr/>
        </p:nvSpPr>
        <p:spPr>
          <a:xfrm>
            <a:off x="10261187" y="4243864"/>
            <a:ext cx="7315467" cy="1780213"/>
          </a:xfrm>
          <a:prstGeom prst="rect">
            <a:avLst/>
          </a:prstGeom>
        </p:spPr>
        <p:txBody>
          <a:bodyPr lIns="0" tIns="0" rIns="0" bIns="0" rtlCol="0" anchor="t">
            <a:spAutoFit/>
          </a:bodyPr>
          <a:lstStyle/>
          <a:p>
            <a:pPr algn="ctr">
              <a:lnSpc>
                <a:spcPts val="3336"/>
              </a:lnSpc>
            </a:pPr>
            <a:r>
              <a:rPr lang="en-US" sz="3336">
                <a:solidFill>
                  <a:srgbClr val="1E4664"/>
                </a:solidFill>
                <a:latin typeface="Times New Roman MT"/>
                <a:ea typeface="Times New Roman MT"/>
                <a:cs typeface="Times New Roman MT"/>
                <a:sym typeface="Times New Roman MT"/>
              </a:rPr>
              <a:t>The design was developed to address class imbalance, fraud detection, false-positive control and computational latency. </a:t>
            </a: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179" b="-179"/>
              </a:stretch>
            </a:blipFill>
          </p:spPr>
        </p:sp>
      </p:grpSp>
      <p:sp>
        <p:nvSpPr>
          <p:cNvPr id="4" name="Freeform 4"/>
          <p:cNvSpPr/>
          <p:nvPr/>
        </p:nvSpPr>
        <p:spPr>
          <a:xfrm flipH="1" flipV="1">
            <a:off x="15994399" y="7595178"/>
            <a:ext cx="3461576" cy="4114800"/>
          </a:xfrm>
          <a:custGeom>
            <a:avLst/>
            <a:gdLst/>
            <a:ahLst/>
            <a:cxnLst/>
            <a:rect l="l" t="t" r="r" b="b"/>
            <a:pathLst>
              <a:path w="3461576" h="4114800">
                <a:moveTo>
                  <a:pt x="3461576" y="4114800"/>
                </a:moveTo>
                <a:lnTo>
                  <a:pt x="0" y="4114800"/>
                </a:lnTo>
                <a:lnTo>
                  <a:pt x="0" y="0"/>
                </a:lnTo>
                <a:lnTo>
                  <a:pt x="3461576" y="0"/>
                </a:lnTo>
                <a:lnTo>
                  <a:pt x="3461576" y="4114800"/>
                </a:lnTo>
                <a:close/>
              </a:path>
            </a:pathLst>
          </a:custGeom>
          <a:blipFill>
            <a:blip r:embed="rId4">
              <a:extLst>
                <a:ext uri="{96DAC541-7B7A-43D3-8B79-37D633B846F1}">
                  <asvg:svgBlip xmlns:asvg="http://schemas.microsoft.com/office/drawing/2016/SVG/main" r:embed="rId5"/>
                </a:ext>
              </a:extLst>
            </a:blip>
            <a:stretch>
              <a:fillRect t="-35" b="-35"/>
            </a:stretch>
          </a:blipFill>
        </p:spPr>
      </p:sp>
      <p:grpSp>
        <p:nvGrpSpPr>
          <p:cNvPr id="5" name="Group 5"/>
          <p:cNvGrpSpPr/>
          <p:nvPr/>
        </p:nvGrpSpPr>
        <p:grpSpPr>
          <a:xfrm>
            <a:off x="10449411" y="0"/>
            <a:ext cx="6556219" cy="4873457"/>
            <a:chOff x="0" y="0"/>
            <a:chExt cx="8741626" cy="6497942"/>
          </a:xfrm>
        </p:grpSpPr>
        <p:sp>
          <p:nvSpPr>
            <p:cNvPr id="6" name="Freeform 6"/>
            <p:cNvSpPr/>
            <p:nvPr/>
          </p:nvSpPr>
          <p:spPr>
            <a:xfrm>
              <a:off x="0" y="0"/>
              <a:ext cx="8741664" cy="6497955"/>
            </a:xfrm>
            <a:custGeom>
              <a:avLst/>
              <a:gdLst/>
              <a:ahLst/>
              <a:cxnLst/>
              <a:rect l="l" t="t" r="r" b="b"/>
              <a:pathLst>
                <a:path w="8741664" h="6497955">
                  <a:moveTo>
                    <a:pt x="0" y="0"/>
                  </a:moveTo>
                  <a:lnTo>
                    <a:pt x="8741664" y="0"/>
                  </a:lnTo>
                  <a:lnTo>
                    <a:pt x="8741664" y="6497955"/>
                  </a:lnTo>
                  <a:lnTo>
                    <a:pt x="0" y="6497955"/>
                  </a:lnTo>
                  <a:lnTo>
                    <a:pt x="0" y="0"/>
                  </a:lnTo>
                  <a:close/>
                </a:path>
              </a:pathLst>
            </a:custGeom>
            <a:blipFill>
              <a:blip r:embed="rId6"/>
              <a:stretch>
                <a:fillRect t="-74" b="-74"/>
              </a:stretch>
            </a:blipFill>
          </p:spPr>
        </p:sp>
      </p:grpSp>
      <p:grpSp>
        <p:nvGrpSpPr>
          <p:cNvPr id="7" name="Group 7"/>
          <p:cNvGrpSpPr/>
          <p:nvPr/>
        </p:nvGrpSpPr>
        <p:grpSpPr>
          <a:xfrm>
            <a:off x="10293877" y="5276536"/>
            <a:ext cx="6867277" cy="4662116"/>
            <a:chOff x="0" y="0"/>
            <a:chExt cx="9156370" cy="6216155"/>
          </a:xfrm>
        </p:grpSpPr>
        <p:sp>
          <p:nvSpPr>
            <p:cNvPr id="8" name="Freeform 8"/>
            <p:cNvSpPr/>
            <p:nvPr/>
          </p:nvSpPr>
          <p:spPr>
            <a:xfrm>
              <a:off x="0" y="0"/>
              <a:ext cx="9156319" cy="6216142"/>
            </a:xfrm>
            <a:custGeom>
              <a:avLst/>
              <a:gdLst/>
              <a:ahLst/>
              <a:cxnLst/>
              <a:rect l="l" t="t" r="r" b="b"/>
              <a:pathLst>
                <a:path w="9156319" h="6216142">
                  <a:moveTo>
                    <a:pt x="0" y="0"/>
                  </a:moveTo>
                  <a:lnTo>
                    <a:pt x="9156319" y="0"/>
                  </a:lnTo>
                  <a:lnTo>
                    <a:pt x="9156319" y="6216142"/>
                  </a:lnTo>
                  <a:lnTo>
                    <a:pt x="0" y="6216142"/>
                  </a:lnTo>
                  <a:lnTo>
                    <a:pt x="0" y="0"/>
                  </a:lnTo>
                  <a:close/>
                </a:path>
              </a:pathLst>
            </a:custGeom>
            <a:blipFill>
              <a:blip r:embed="rId7"/>
              <a:stretch>
                <a:fillRect/>
              </a:stretch>
            </a:blipFill>
          </p:spPr>
        </p:sp>
      </p:grpSp>
      <p:sp>
        <p:nvSpPr>
          <p:cNvPr id="9" name="TextBox 9"/>
          <p:cNvSpPr txBox="1"/>
          <p:nvPr/>
        </p:nvSpPr>
        <p:spPr>
          <a:xfrm>
            <a:off x="2507399" y="359883"/>
            <a:ext cx="8535229" cy="968378"/>
          </a:xfrm>
          <a:prstGeom prst="rect">
            <a:avLst/>
          </a:prstGeom>
        </p:spPr>
        <p:txBody>
          <a:bodyPr lIns="0" tIns="0" rIns="0" bIns="0" rtlCol="0" anchor="t">
            <a:spAutoFit/>
          </a:bodyPr>
          <a:lstStyle/>
          <a:p>
            <a:pPr algn="l">
              <a:lnSpc>
                <a:spcPts val="6999"/>
              </a:lnSpc>
            </a:pPr>
            <a:r>
              <a:rPr lang="en-US" sz="6999" b="1">
                <a:solidFill>
                  <a:srgbClr val="1E4664"/>
                </a:solidFill>
                <a:latin typeface="Times New Roman Bold"/>
                <a:ea typeface="Times New Roman Bold"/>
                <a:cs typeface="Times New Roman Bold"/>
                <a:sym typeface="Times New Roman Bold"/>
              </a:rPr>
              <a:t>Prototype</a:t>
            </a:r>
          </a:p>
        </p:txBody>
      </p:sp>
      <p:sp>
        <p:nvSpPr>
          <p:cNvPr id="10" name="TextBox 10"/>
          <p:cNvSpPr txBox="1"/>
          <p:nvPr/>
        </p:nvSpPr>
        <p:spPr>
          <a:xfrm>
            <a:off x="648281" y="2553938"/>
            <a:ext cx="8079686" cy="6814185"/>
          </a:xfrm>
          <a:prstGeom prst="rect">
            <a:avLst/>
          </a:prstGeom>
        </p:spPr>
        <p:txBody>
          <a:bodyPr lIns="0" tIns="0" rIns="0" bIns="0" rtlCol="0" anchor="t">
            <a:spAutoFit/>
          </a:bodyPr>
          <a:lstStyle/>
          <a:p>
            <a:pPr algn="just">
              <a:lnSpc>
                <a:spcPts val="3599"/>
              </a:lnSpc>
            </a:pPr>
            <a:r>
              <a:rPr lang="en-US" sz="2399" b="1">
                <a:solidFill>
                  <a:srgbClr val="1E4664"/>
                </a:solidFill>
                <a:latin typeface="Times New Roman Bold"/>
                <a:ea typeface="Times New Roman Bold"/>
                <a:cs typeface="Times New Roman Bold"/>
                <a:sym typeface="Times New Roman Bold"/>
              </a:rPr>
              <a:t>As a result of this, the Fraud Detection Model was implemented.</a:t>
            </a:r>
          </a:p>
          <a:p>
            <a:pPr marL="548519" lvl="2" indent="-182840" algn="l">
              <a:lnSpc>
                <a:spcPts val="3599"/>
              </a:lnSpc>
              <a:buFont typeface="Arial"/>
              <a:buChar char="⚬"/>
            </a:pPr>
            <a:r>
              <a:rPr lang="en-US" sz="2399">
                <a:solidFill>
                  <a:srgbClr val="1E4664"/>
                </a:solidFill>
                <a:latin typeface="Times New Roman MT"/>
                <a:ea typeface="Times New Roman MT"/>
                <a:cs typeface="Times New Roman MT"/>
                <a:sym typeface="Times New Roman MT"/>
              </a:rPr>
              <a:t>The prototype was written in Python with the help of pandas and scikit-learn.</a:t>
            </a:r>
          </a:p>
          <a:p>
            <a:pPr marL="548519" lvl="2" indent="-182840" algn="just">
              <a:lnSpc>
                <a:spcPts val="3599"/>
              </a:lnSpc>
            </a:pPr>
            <a:r>
              <a:rPr lang="en-US" sz="2399" b="1">
                <a:solidFill>
                  <a:srgbClr val="1E4664"/>
                </a:solidFill>
                <a:latin typeface="Times New Roman Bold"/>
                <a:ea typeface="Times New Roman Bold"/>
                <a:cs typeface="Times New Roman Bold"/>
                <a:sym typeface="Times New Roman Bold"/>
              </a:rPr>
              <a:t>The model combines:</a:t>
            </a:r>
          </a:p>
          <a:p>
            <a:pPr marL="548519" lvl="2" indent="-182840" algn="just">
              <a:lnSpc>
                <a:spcPts val="3599"/>
              </a:lnSpc>
            </a:pPr>
            <a:r>
              <a:rPr lang="en-US" sz="2399" b="1">
                <a:solidFill>
                  <a:srgbClr val="1E4664"/>
                </a:solidFill>
                <a:latin typeface="Times New Roman Bold"/>
                <a:ea typeface="Times New Roman Bold"/>
                <a:cs typeface="Times New Roman Bold"/>
                <a:sym typeface="Times New Roman Bold"/>
              </a:rPr>
              <a:t>Random Forest</a:t>
            </a:r>
          </a:p>
          <a:p>
            <a:pPr marL="548519" lvl="2" indent="-182840" algn="l">
              <a:lnSpc>
                <a:spcPts val="3599"/>
              </a:lnSpc>
              <a:buFont typeface="Arial"/>
              <a:buChar char="⚬"/>
            </a:pPr>
            <a:r>
              <a:rPr lang="en-US" sz="2399">
                <a:solidFill>
                  <a:srgbClr val="1E4664"/>
                </a:solidFill>
                <a:latin typeface="Times New Roman MT"/>
                <a:ea typeface="Times New Roman MT"/>
                <a:cs typeface="Times New Roman MT"/>
                <a:sym typeface="Times New Roman MT"/>
              </a:rPr>
              <a:t>Baseline classifier</a:t>
            </a:r>
          </a:p>
          <a:p>
            <a:pPr marL="548519" lvl="2" indent="-182840" algn="just">
              <a:lnSpc>
                <a:spcPts val="3599"/>
              </a:lnSpc>
            </a:pPr>
            <a:r>
              <a:rPr lang="en-US" sz="2399" b="1">
                <a:solidFill>
                  <a:srgbClr val="1E4664"/>
                </a:solidFill>
                <a:latin typeface="Times New Roman Bold"/>
                <a:ea typeface="Times New Roman Bold"/>
                <a:cs typeface="Times New Roman Bold"/>
                <a:sym typeface="Times New Roman Bold"/>
              </a:rPr>
              <a:t>XGBoost</a:t>
            </a:r>
          </a:p>
          <a:p>
            <a:pPr marL="548519" lvl="2" indent="-182840" algn="l">
              <a:lnSpc>
                <a:spcPts val="3599"/>
              </a:lnSpc>
              <a:buFont typeface="Arial"/>
              <a:buChar char="⚬"/>
            </a:pPr>
            <a:r>
              <a:rPr lang="en-US" sz="2399">
                <a:solidFill>
                  <a:srgbClr val="1E4664"/>
                </a:solidFill>
                <a:latin typeface="Times New Roman MT"/>
                <a:ea typeface="Times New Roman MT"/>
                <a:cs typeface="Times New Roman MT"/>
                <a:sym typeface="Times New Roman MT"/>
              </a:rPr>
              <a:t>Baseline gradient-boosting classifier</a:t>
            </a:r>
          </a:p>
          <a:p>
            <a:pPr marL="548519" lvl="2" indent="-182840" algn="just">
              <a:lnSpc>
                <a:spcPts val="3599"/>
              </a:lnSpc>
            </a:pPr>
            <a:r>
              <a:rPr lang="en-US" sz="2399" b="1">
                <a:solidFill>
                  <a:srgbClr val="1E4664"/>
                </a:solidFill>
                <a:latin typeface="Times New Roman Bold"/>
                <a:ea typeface="Times New Roman Bold"/>
                <a:cs typeface="Times New Roman Bold"/>
                <a:sym typeface="Times New Roman Bold"/>
              </a:rPr>
              <a:t>Stacking Ensemble</a:t>
            </a:r>
          </a:p>
          <a:p>
            <a:pPr marL="548519" lvl="2" indent="-182840" algn="l">
              <a:lnSpc>
                <a:spcPts val="3599"/>
              </a:lnSpc>
              <a:buFont typeface="Arial"/>
              <a:buChar char="⚬"/>
            </a:pPr>
            <a:r>
              <a:rPr lang="en-US" sz="2399">
                <a:solidFill>
                  <a:srgbClr val="1E4664"/>
                </a:solidFill>
                <a:latin typeface="Times New Roman MT"/>
                <a:ea typeface="Times New Roman MT"/>
                <a:cs typeface="Times New Roman MT"/>
                <a:sym typeface="Times New Roman MT"/>
              </a:rPr>
              <a:t>The second model is a Random Forest + XGBoost meta-classifier with logistic regression.</a:t>
            </a:r>
          </a:p>
          <a:p>
            <a:pPr marL="548519" lvl="2" indent="-182840" algn="just">
              <a:lnSpc>
                <a:spcPts val="3599"/>
              </a:lnSpc>
            </a:pPr>
            <a:r>
              <a:rPr lang="en-US" sz="2399">
                <a:solidFill>
                  <a:srgbClr val="1E4664"/>
                </a:solidFill>
                <a:latin typeface="Times New Roman MT"/>
                <a:ea typeface="Times New Roman MT"/>
                <a:cs typeface="Times New Roman MT"/>
                <a:sym typeface="Times New Roman MT"/>
              </a:rPr>
              <a:t>The entire process of preprocessing, SMOTE, model training, prediction and model performance evaluation were performed.</a:t>
            </a:r>
          </a:p>
          <a:p>
            <a:pPr marL="548519" lvl="2" indent="-182840" algn="just">
              <a:lnSpc>
                <a:spcPts val="3599"/>
              </a:lnSpc>
            </a:pPr>
            <a:endParaRPr lang="en-US" sz="2399">
              <a:solidFill>
                <a:srgbClr val="1E4664"/>
              </a:solidFill>
              <a:latin typeface="Times New Roman MT"/>
              <a:ea typeface="Times New Roman MT"/>
              <a:cs typeface="Times New Roman MT"/>
              <a:sym typeface="Times New Roman MT"/>
            </a:endParaRPr>
          </a:p>
        </p:txBody>
      </p:sp>
      <p:sp>
        <p:nvSpPr>
          <p:cNvPr id="11" name="TextBox 11"/>
          <p:cNvSpPr txBox="1"/>
          <p:nvPr/>
        </p:nvSpPr>
        <p:spPr>
          <a:xfrm>
            <a:off x="11911146" y="5010464"/>
            <a:ext cx="3632740" cy="266062"/>
          </a:xfrm>
          <a:prstGeom prst="rect">
            <a:avLst/>
          </a:prstGeom>
        </p:spPr>
        <p:txBody>
          <a:bodyPr lIns="0" tIns="0" rIns="0" bIns="0" rtlCol="0" anchor="t">
            <a:spAutoFit/>
          </a:bodyPr>
          <a:lstStyle/>
          <a:p>
            <a:pPr algn="ctr">
              <a:lnSpc>
                <a:spcPts val="1760"/>
              </a:lnSpc>
            </a:pPr>
            <a:r>
              <a:rPr lang="en-US" sz="1760">
                <a:solidFill>
                  <a:srgbClr val="1E4664"/>
                </a:solidFill>
                <a:latin typeface="Times New Roman MT"/>
                <a:ea typeface="Times New Roman MT"/>
                <a:cs typeface="Times New Roman MT"/>
                <a:sym typeface="Times New Roman MT"/>
              </a:rPr>
              <a:t>Stacking Ensemble Confusion Matrix.</a:t>
            </a:r>
          </a:p>
        </p:txBody>
      </p:sp>
      <p:sp>
        <p:nvSpPr>
          <p:cNvPr id="12" name="TextBox 12"/>
          <p:cNvSpPr txBox="1"/>
          <p:nvPr/>
        </p:nvSpPr>
        <p:spPr>
          <a:xfrm>
            <a:off x="10449411" y="9969503"/>
            <a:ext cx="5698931" cy="317497"/>
          </a:xfrm>
          <a:prstGeom prst="rect">
            <a:avLst/>
          </a:prstGeom>
        </p:spPr>
        <p:txBody>
          <a:bodyPr lIns="0" tIns="0" rIns="0" bIns="0" rtlCol="0" anchor="t">
            <a:spAutoFit/>
          </a:bodyPr>
          <a:lstStyle/>
          <a:p>
            <a:pPr algn="ctr">
              <a:lnSpc>
                <a:spcPts val="2000"/>
              </a:lnSpc>
            </a:pPr>
            <a:r>
              <a:rPr lang="en-US" sz="2000">
                <a:solidFill>
                  <a:srgbClr val="1E4664"/>
                </a:solidFill>
                <a:latin typeface="Times New Roman MT"/>
                <a:ea typeface="Times New Roman MT"/>
                <a:cs typeface="Times New Roman MT"/>
                <a:sym typeface="Times New Roman MT"/>
              </a:rPr>
              <a:t>Precision–Recall Trade-off for the Evaluated Models.</a:t>
            </a: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179" b="-179"/>
              </a:stretch>
            </a:blipFill>
          </p:spPr>
        </p:sp>
      </p:grpSp>
      <p:graphicFrame>
        <p:nvGraphicFramePr>
          <p:cNvPr id="4" name="Table 4"/>
          <p:cNvGraphicFramePr>
            <a:graphicFrameLocks noGrp="1"/>
          </p:cNvGraphicFramePr>
          <p:nvPr/>
        </p:nvGraphicFramePr>
        <p:xfrm>
          <a:off x="424925" y="2922638"/>
          <a:ext cx="8001000" cy="5994399"/>
        </p:xfrm>
        <a:graphic>
          <a:graphicData uri="http://schemas.openxmlformats.org/drawingml/2006/table">
            <a:tbl>
              <a:tblPr/>
              <a:tblGrid>
                <a:gridCol w="1600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tblGrid>
              <a:tr h="1389577">
                <a:tc>
                  <a:txBody>
                    <a:bodyPr/>
                    <a:lstStyle/>
                    <a:p>
                      <a:pPr algn="ctr">
                        <a:lnSpc>
                          <a:spcPts val="3638"/>
                        </a:lnSpc>
                        <a:defRPr/>
                      </a:pPr>
                      <a:r>
                        <a:rPr lang="en-US" sz="2598" b="1">
                          <a:solidFill>
                            <a:srgbClr val="000000"/>
                          </a:solidFill>
                          <a:latin typeface="Times New Roman Bold"/>
                          <a:ea typeface="Times New Roman Bold"/>
                          <a:cs typeface="Times New Roman Bold"/>
                          <a:sym typeface="Times New Roman Bold"/>
                        </a:rPr>
                        <a:t>Model</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b="1">
                          <a:solidFill>
                            <a:srgbClr val="000000"/>
                          </a:solidFill>
                          <a:latin typeface="Times New Roman Bold"/>
                          <a:ea typeface="Times New Roman Bold"/>
                          <a:cs typeface="Times New Roman Bold"/>
                          <a:sym typeface="Times New Roman Bold"/>
                        </a:rPr>
                        <a:t>F1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b="1">
                          <a:solidFill>
                            <a:srgbClr val="000000"/>
                          </a:solidFill>
                          <a:latin typeface="Times New Roman Bold"/>
                          <a:ea typeface="Times New Roman Bold"/>
                          <a:cs typeface="Times New Roman Bold"/>
                          <a:sym typeface="Times New Roman Bold"/>
                        </a:rPr>
                        <a:t>AUC-ROC</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b="1">
                          <a:solidFill>
                            <a:srgbClr val="000000"/>
                          </a:solidFill>
                          <a:latin typeface="Times New Roman Bold"/>
                          <a:ea typeface="Times New Roman Bold"/>
                          <a:cs typeface="Times New Roman Bold"/>
                          <a:sym typeface="Times New Roman Bold"/>
                        </a:rPr>
                        <a:t>FPR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b="1">
                          <a:solidFill>
                            <a:srgbClr val="000000"/>
                          </a:solidFill>
                          <a:latin typeface="Times New Roman Bold"/>
                          <a:ea typeface="Times New Roman Bold"/>
                          <a:cs typeface="Times New Roman Bold"/>
                          <a:sym typeface="Times New Roman Bold"/>
                        </a:rPr>
                        <a:t>Training</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825668">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Random Forest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0.0451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0.8271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0.0026</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39.94s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389577">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XGBoost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0.0576</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0.8441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0.0020</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3.05s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389577">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Stacking</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0.0546</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0.7838</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0.0027</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38"/>
                        </a:lnSpc>
                        <a:defRPr/>
                      </a:pPr>
                      <a:r>
                        <a:rPr lang="en-US" sz="2598">
                          <a:solidFill>
                            <a:srgbClr val="000000"/>
                          </a:solidFill>
                          <a:latin typeface="Times New Roman MT"/>
                          <a:ea typeface="Times New Roman MT"/>
                          <a:cs typeface="Times New Roman MT"/>
                          <a:sym typeface="Times New Roman MT"/>
                        </a:rPr>
                        <a:t>118.86s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pSp>
        <p:nvGrpSpPr>
          <p:cNvPr id="5" name="Group 5"/>
          <p:cNvGrpSpPr/>
          <p:nvPr/>
        </p:nvGrpSpPr>
        <p:grpSpPr>
          <a:xfrm>
            <a:off x="8976703" y="4546873"/>
            <a:ext cx="6704076" cy="4711427"/>
            <a:chOff x="0" y="0"/>
            <a:chExt cx="8938768" cy="6281903"/>
          </a:xfrm>
        </p:grpSpPr>
        <p:sp>
          <p:nvSpPr>
            <p:cNvPr id="6" name="Freeform 6"/>
            <p:cNvSpPr/>
            <p:nvPr/>
          </p:nvSpPr>
          <p:spPr>
            <a:xfrm>
              <a:off x="0" y="0"/>
              <a:ext cx="8938768" cy="6281928"/>
            </a:xfrm>
            <a:custGeom>
              <a:avLst/>
              <a:gdLst/>
              <a:ahLst/>
              <a:cxnLst/>
              <a:rect l="l" t="t" r="r" b="b"/>
              <a:pathLst>
                <a:path w="8938768" h="6281928">
                  <a:moveTo>
                    <a:pt x="0" y="0"/>
                  </a:moveTo>
                  <a:lnTo>
                    <a:pt x="8938768" y="0"/>
                  </a:lnTo>
                  <a:lnTo>
                    <a:pt x="8938768" y="6281928"/>
                  </a:lnTo>
                  <a:lnTo>
                    <a:pt x="0" y="6281928"/>
                  </a:lnTo>
                  <a:lnTo>
                    <a:pt x="0" y="0"/>
                  </a:lnTo>
                  <a:close/>
                </a:path>
              </a:pathLst>
            </a:custGeom>
            <a:blipFill>
              <a:blip r:embed="rId4"/>
              <a:stretch>
                <a:fillRect/>
              </a:stretch>
            </a:blipFill>
          </p:spPr>
        </p:sp>
      </p:grpSp>
      <p:sp>
        <p:nvSpPr>
          <p:cNvPr id="7" name="TextBox 7"/>
          <p:cNvSpPr txBox="1"/>
          <p:nvPr/>
        </p:nvSpPr>
        <p:spPr>
          <a:xfrm>
            <a:off x="2544213" y="487366"/>
            <a:ext cx="13824928" cy="1073153"/>
          </a:xfrm>
          <a:prstGeom prst="rect">
            <a:avLst/>
          </a:prstGeom>
        </p:spPr>
        <p:txBody>
          <a:bodyPr lIns="0" tIns="0" rIns="0" bIns="0" rtlCol="0" anchor="t">
            <a:spAutoFit/>
          </a:bodyPr>
          <a:lstStyle/>
          <a:p>
            <a:pPr algn="ctr">
              <a:lnSpc>
                <a:spcPts val="6999"/>
              </a:lnSpc>
            </a:pPr>
            <a:r>
              <a:rPr lang="en-US" sz="6999">
                <a:solidFill>
                  <a:srgbClr val="1E4664"/>
                </a:solidFill>
                <a:latin typeface="Times New Roman MT"/>
                <a:ea typeface="Times New Roman MT"/>
                <a:cs typeface="Times New Roman MT"/>
                <a:sym typeface="Times New Roman MT"/>
              </a:rPr>
              <a:t>Results &amp; Evaluation</a:t>
            </a:r>
          </a:p>
        </p:txBody>
      </p:sp>
      <p:sp>
        <p:nvSpPr>
          <p:cNvPr id="8" name="TextBox 8"/>
          <p:cNvSpPr txBox="1"/>
          <p:nvPr/>
        </p:nvSpPr>
        <p:spPr>
          <a:xfrm>
            <a:off x="601170" y="1979266"/>
            <a:ext cx="2444506" cy="498472"/>
          </a:xfrm>
          <a:prstGeom prst="rect">
            <a:avLst/>
          </a:prstGeom>
        </p:spPr>
        <p:txBody>
          <a:bodyPr lIns="0" tIns="0" rIns="0" bIns="0" rtlCol="0" anchor="t">
            <a:spAutoFit/>
          </a:bodyPr>
          <a:lstStyle/>
          <a:p>
            <a:pPr algn="ctr">
              <a:lnSpc>
                <a:spcPts val="3500"/>
              </a:lnSpc>
            </a:pPr>
            <a:r>
              <a:rPr lang="en-US" sz="3500" b="1">
                <a:solidFill>
                  <a:srgbClr val="1E4664"/>
                </a:solidFill>
                <a:latin typeface="Times New Roman Bold"/>
                <a:ea typeface="Times New Roman Bold"/>
                <a:cs typeface="Times New Roman Bold"/>
                <a:sym typeface="Times New Roman Bold"/>
              </a:rPr>
              <a:t>Base Dataset</a:t>
            </a:r>
          </a:p>
        </p:txBody>
      </p:sp>
      <p:sp>
        <p:nvSpPr>
          <p:cNvPr id="9" name="TextBox 9"/>
          <p:cNvSpPr txBox="1"/>
          <p:nvPr/>
        </p:nvSpPr>
        <p:spPr>
          <a:xfrm>
            <a:off x="9456677" y="2004670"/>
            <a:ext cx="8326917" cy="2112264"/>
          </a:xfrm>
          <a:prstGeom prst="rect">
            <a:avLst/>
          </a:prstGeom>
        </p:spPr>
        <p:txBody>
          <a:bodyPr lIns="0" tIns="0" rIns="0" bIns="0" rtlCol="0" anchor="t">
            <a:spAutoFit/>
          </a:bodyPr>
          <a:lstStyle/>
          <a:p>
            <a:pPr algn="l">
              <a:lnSpc>
                <a:spcPts val="2687"/>
              </a:lnSpc>
            </a:pPr>
            <a:r>
              <a:rPr lang="en-US" sz="1599" b="1">
                <a:solidFill>
                  <a:srgbClr val="1E4664"/>
                </a:solidFill>
                <a:latin typeface="Times New Roman MT Bold"/>
                <a:ea typeface="Times New Roman MT Bold"/>
                <a:cs typeface="Times New Roman MT Bold"/>
                <a:sym typeface="Times New Roman MT Bold"/>
              </a:rPr>
              <a:t>Key finding: </a:t>
            </a:r>
            <a:r>
              <a:rPr lang="en-US" sz="1599">
                <a:solidFill>
                  <a:srgbClr val="1E4664"/>
                </a:solidFill>
                <a:latin typeface="Times New Roman MT"/>
                <a:ea typeface="Times New Roman MT"/>
                <a:cs typeface="Times New Roman MT"/>
                <a:sym typeface="Times New Roman MT"/>
              </a:rPr>
              <a:t>XGBoost outperformed the Stacking Ensemble on the Base dataset, and trained significantly quicker.</a:t>
            </a:r>
          </a:p>
          <a:p>
            <a:pPr algn="l">
              <a:lnSpc>
                <a:spcPts val="2687"/>
              </a:lnSpc>
            </a:pPr>
            <a:r>
              <a:rPr lang="en-US" sz="1599">
                <a:solidFill>
                  <a:srgbClr val="1E4664"/>
                </a:solidFill>
                <a:latin typeface="Times New Roman MT"/>
                <a:ea typeface="Times New Roman MT"/>
                <a:cs typeface="Times New Roman MT"/>
                <a:sym typeface="Times New Roman MT"/>
              </a:rPr>
              <a:t> </a:t>
            </a:r>
          </a:p>
          <a:p>
            <a:pPr algn="l">
              <a:lnSpc>
                <a:spcPts val="2687"/>
              </a:lnSpc>
            </a:pPr>
            <a:r>
              <a:rPr lang="en-US" sz="1599" b="1">
                <a:solidFill>
                  <a:srgbClr val="1E4664"/>
                </a:solidFill>
                <a:latin typeface="Times New Roman Bold"/>
                <a:ea typeface="Times New Roman Bold"/>
                <a:cs typeface="Times New Roman Bold"/>
                <a:sym typeface="Times New Roman Bold"/>
              </a:rPr>
              <a:t>Robustness</a:t>
            </a:r>
          </a:p>
          <a:p>
            <a:pPr algn="l">
              <a:lnSpc>
                <a:spcPts val="2687"/>
              </a:lnSpc>
            </a:pPr>
            <a:r>
              <a:rPr lang="en-US" sz="1599">
                <a:solidFill>
                  <a:srgbClr val="1E4664"/>
                </a:solidFill>
                <a:latin typeface="Times New Roman MT"/>
                <a:ea typeface="Times New Roman MT"/>
                <a:cs typeface="Times New Roman MT"/>
                <a:sym typeface="Times New Roman MT"/>
              </a:rPr>
              <a:t>The Stacking Ensemble performed well on at least five variant datasets, achieving the best score of 0.1250 on Variant II.</a:t>
            </a:r>
          </a:p>
        </p:txBody>
      </p:sp>
      <p:sp>
        <p:nvSpPr>
          <p:cNvPr id="10" name="TextBox 10"/>
          <p:cNvSpPr txBox="1"/>
          <p:nvPr/>
        </p:nvSpPr>
        <p:spPr>
          <a:xfrm>
            <a:off x="10038950" y="9471422"/>
            <a:ext cx="4579591" cy="377828"/>
          </a:xfrm>
          <a:prstGeom prst="rect">
            <a:avLst/>
          </a:prstGeom>
        </p:spPr>
        <p:txBody>
          <a:bodyPr lIns="0" tIns="0" rIns="0" bIns="0" rtlCol="0" anchor="t">
            <a:spAutoFit/>
          </a:bodyPr>
          <a:lstStyle/>
          <a:p>
            <a:pPr algn="ctr">
              <a:lnSpc>
                <a:spcPts val="2499"/>
              </a:lnSpc>
            </a:pPr>
            <a:r>
              <a:rPr lang="en-US" sz="2499">
                <a:solidFill>
                  <a:srgbClr val="1E4664"/>
                </a:solidFill>
                <a:latin typeface="Times New Roman MT"/>
                <a:ea typeface="Times New Roman MT"/>
                <a:cs typeface="Times New Roman MT"/>
                <a:sym typeface="Times New Roman MT"/>
              </a:rPr>
              <a:t>Class Distribution After SMOTE.</a:t>
            </a: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179" b="-179"/>
              </a:stretch>
            </a:blipFill>
          </p:spPr>
        </p:sp>
      </p:grpSp>
      <p:sp>
        <p:nvSpPr>
          <p:cNvPr id="4" name="Freeform 4"/>
          <p:cNvSpPr/>
          <p:nvPr/>
        </p:nvSpPr>
        <p:spPr>
          <a:xfrm flipH="1" flipV="1">
            <a:off x="15994399" y="7595178"/>
            <a:ext cx="3461576" cy="4114800"/>
          </a:xfrm>
          <a:custGeom>
            <a:avLst/>
            <a:gdLst/>
            <a:ahLst/>
            <a:cxnLst/>
            <a:rect l="l" t="t" r="r" b="b"/>
            <a:pathLst>
              <a:path w="3461576" h="4114800">
                <a:moveTo>
                  <a:pt x="3461576" y="4114800"/>
                </a:moveTo>
                <a:lnTo>
                  <a:pt x="0" y="4114800"/>
                </a:lnTo>
                <a:lnTo>
                  <a:pt x="0" y="0"/>
                </a:lnTo>
                <a:lnTo>
                  <a:pt x="3461576" y="0"/>
                </a:lnTo>
                <a:lnTo>
                  <a:pt x="3461576" y="4114800"/>
                </a:lnTo>
                <a:close/>
              </a:path>
            </a:pathLst>
          </a:custGeom>
          <a:blipFill>
            <a:blip r:embed="rId4">
              <a:extLst>
                <a:ext uri="{96DAC541-7B7A-43D3-8B79-37D633B846F1}">
                  <asvg:svgBlip xmlns:asvg="http://schemas.microsoft.com/office/drawing/2016/SVG/main" r:embed="rId5"/>
                </a:ext>
              </a:extLst>
            </a:blip>
            <a:stretch>
              <a:fillRect t="-35" b="-35"/>
            </a:stretch>
          </a:blipFill>
        </p:spPr>
      </p:sp>
      <p:grpSp>
        <p:nvGrpSpPr>
          <p:cNvPr id="5" name="Group 5"/>
          <p:cNvGrpSpPr/>
          <p:nvPr/>
        </p:nvGrpSpPr>
        <p:grpSpPr>
          <a:xfrm>
            <a:off x="10595543" y="2014071"/>
            <a:ext cx="7548039" cy="5172027"/>
            <a:chOff x="0" y="0"/>
            <a:chExt cx="10064052" cy="6896036"/>
          </a:xfrm>
        </p:grpSpPr>
        <p:sp>
          <p:nvSpPr>
            <p:cNvPr id="6" name="Freeform 6"/>
            <p:cNvSpPr/>
            <p:nvPr/>
          </p:nvSpPr>
          <p:spPr>
            <a:xfrm>
              <a:off x="0" y="0"/>
              <a:ext cx="10064115" cy="6895973"/>
            </a:xfrm>
            <a:custGeom>
              <a:avLst/>
              <a:gdLst/>
              <a:ahLst/>
              <a:cxnLst/>
              <a:rect l="l" t="t" r="r" b="b"/>
              <a:pathLst>
                <a:path w="10064115" h="6895973">
                  <a:moveTo>
                    <a:pt x="0" y="0"/>
                  </a:moveTo>
                  <a:lnTo>
                    <a:pt x="10064115" y="0"/>
                  </a:lnTo>
                  <a:lnTo>
                    <a:pt x="10064115" y="6895973"/>
                  </a:lnTo>
                  <a:lnTo>
                    <a:pt x="0" y="6895973"/>
                  </a:lnTo>
                  <a:lnTo>
                    <a:pt x="0" y="0"/>
                  </a:lnTo>
                  <a:close/>
                </a:path>
              </a:pathLst>
            </a:custGeom>
            <a:blipFill>
              <a:blip r:embed="rId6"/>
              <a:stretch>
                <a:fillRect/>
              </a:stretch>
            </a:blipFill>
          </p:spPr>
        </p:sp>
      </p:grpSp>
      <p:sp>
        <p:nvSpPr>
          <p:cNvPr id="7" name="TextBox 7"/>
          <p:cNvSpPr txBox="1"/>
          <p:nvPr/>
        </p:nvSpPr>
        <p:spPr>
          <a:xfrm>
            <a:off x="2507399" y="359883"/>
            <a:ext cx="8535229" cy="968378"/>
          </a:xfrm>
          <a:prstGeom prst="rect">
            <a:avLst/>
          </a:prstGeom>
        </p:spPr>
        <p:txBody>
          <a:bodyPr lIns="0" tIns="0" rIns="0" bIns="0" rtlCol="0" anchor="t">
            <a:spAutoFit/>
          </a:bodyPr>
          <a:lstStyle/>
          <a:p>
            <a:pPr algn="l">
              <a:lnSpc>
                <a:spcPts val="6999"/>
              </a:lnSpc>
            </a:pPr>
            <a:r>
              <a:rPr lang="en-US" sz="6999" b="1">
                <a:solidFill>
                  <a:srgbClr val="1E4664"/>
                </a:solidFill>
                <a:latin typeface="Times New Roman Bold"/>
                <a:ea typeface="Times New Roman Bold"/>
                <a:cs typeface="Times New Roman Bold"/>
                <a:sym typeface="Times New Roman Bold"/>
              </a:rPr>
              <a:t>Evaluation</a:t>
            </a:r>
          </a:p>
        </p:txBody>
      </p:sp>
      <p:sp>
        <p:nvSpPr>
          <p:cNvPr id="8" name="TextBox 8"/>
          <p:cNvSpPr txBox="1"/>
          <p:nvPr/>
        </p:nvSpPr>
        <p:spPr>
          <a:xfrm>
            <a:off x="566204" y="1296924"/>
            <a:ext cx="9803320" cy="8990076"/>
          </a:xfrm>
          <a:prstGeom prst="rect">
            <a:avLst/>
          </a:prstGeom>
        </p:spPr>
        <p:txBody>
          <a:bodyPr lIns="0" tIns="0" rIns="0" bIns="0" rtlCol="0" anchor="t">
            <a:spAutoFit/>
          </a:bodyPr>
          <a:lstStyle/>
          <a:p>
            <a:pPr algn="just">
              <a:lnSpc>
                <a:spcPts val="4391"/>
              </a:lnSpc>
            </a:pPr>
            <a:r>
              <a:rPr lang="en-US" sz="2399" b="1" dirty="0">
                <a:solidFill>
                  <a:srgbClr val="1E4664"/>
                </a:solidFill>
                <a:latin typeface="Times New Roman Bold"/>
                <a:ea typeface="Times New Roman Bold"/>
                <a:cs typeface="Times New Roman Bold"/>
                <a:sym typeface="Times New Roman Bold"/>
              </a:rPr>
              <a:t>System Evaluation</a:t>
            </a:r>
          </a:p>
          <a:p>
            <a:pPr marL="548519" lvl="2" indent="-182840" algn="l">
              <a:lnSpc>
                <a:spcPts val="4391"/>
              </a:lnSpc>
              <a:buFont typeface="Arial"/>
              <a:buChar char="⚬"/>
            </a:pPr>
            <a:r>
              <a:rPr lang="en-US" sz="2399" dirty="0">
                <a:solidFill>
                  <a:srgbClr val="1E4664"/>
                </a:solidFill>
                <a:latin typeface="Times New Roman MT"/>
                <a:ea typeface="Times New Roman MT"/>
                <a:cs typeface="Times New Roman MT"/>
                <a:sym typeface="Times New Roman MT"/>
              </a:rPr>
              <a:t>Eight system tests were performed; these included:</a:t>
            </a:r>
          </a:p>
          <a:p>
            <a:pPr marL="548519" lvl="2" indent="-182840" algn="just">
              <a:lnSpc>
                <a:spcPts val="4391"/>
              </a:lnSpc>
            </a:pPr>
            <a:r>
              <a:rPr lang="en-US" sz="2399" dirty="0">
                <a:solidFill>
                  <a:srgbClr val="1E4664"/>
                </a:solidFill>
                <a:latin typeface="Times New Roman MT"/>
                <a:ea typeface="Times New Roman MT"/>
                <a:cs typeface="Times New Roman MT"/>
                <a:sym typeface="Times New Roman MT"/>
              </a:rPr>
              <a:t>Data loading, Pre-processing, SMOTE, Model Training, Ensemble Prediction, Performance Evaluation, False-Positive Testing, Computational Testing.</a:t>
            </a:r>
          </a:p>
          <a:p>
            <a:pPr marL="548519" lvl="2" indent="-182840" algn="just">
              <a:lnSpc>
                <a:spcPts val="4391"/>
              </a:lnSpc>
            </a:pPr>
            <a:r>
              <a:rPr lang="en-US" sz="2399" dirty="0">
                <a:solidFill>
                  <a:srgbClr val="1E4664"/>
                </a:solidFill>
                <a:latin typeface="Times New Roman MT"/>
                <a:ea typeface="Times New Roman MT"/>
                <a:cs typeface="Times New Roman MT"/>
                <a:sym typeface="Times New Roman MT"/>
              </a:rPr>
              <a:t>There was a Passed grade for all 8 tests.</a:t>
            </a:r>
          </a:p>
          <a:p>
            <a:pPr marL="548519" lvl="2" indent="-182840" algn="just">
              <a:lnSpc>
                <a:spcPts val="4391"/>
              </a:lnSpc>
            </a:pPr>
            <a:r>
              <a:rPr lang="en-US" sz="2399" b="1" dirty="0">
                <a:solidFill>
                  <a:srgbClr val="1E4664"/>
                </a:solidFill>
                <a:latin typeface="Times New Roman Bold"/>
                <a:ea typeface="Times New Roman Bold"/>
                <a:cs typeface="Times New Roman Bold"/>
                <a:sym typeface="Times New Roman Bold"/>
              </a:rPr>
              <a:t>Overall Evaluation</a:t>
            </a:r>
          </a:p>
          <a:p>
            <a:pPr marL="548519" lvl="2" indent="-182840" algn="l">
              <a:lnSpc>
                <a:spcPts val="4391"/>
              </a:lnSpc>
              <a:buFont typeface="Arial"/>
              <a:buChar char="⚬"/>
            </a:pPr>
            <a:r>
              <a:rPr lang="en-US" sz="2399" dirty="0">
                <a:solidFill>
                  <a:srgbClr val="1E4664"/>
                </a:solidFill>
                <a:latin typeface="Times New Roman MT"/>
                <a:ea typeface="Times New Roman MT"/>
                <a:cs typeface="Times New Roman MT"/>
                <a:sym typeface="Times New Roman MT"/>
              </a:rPr>
              <a:t>The core technical requirements were met, such as class-imbalance treatment, model development, fraud prediction, model performance metrics, false-positive analysis, computational assessment and robustness testing.</a:t>
            </a:r>
          </a:p>
          <a:p>
            <a:pPr marL="548519" lvl="2" indent="-182840" algn="just">
              <a:lnSpc>
                <a:spcPts val="4391"/>
              </a:lnSpc>
            </a:pPr>
            <a:r>
              <a:rPr lang="en-US" sz="2399" b="1" dirty="0">
                <a:solidFill>
                  <a:srgbClr val="1E4664"/>
                </a:solidFill>
                <a:latin typeface="Times New Roman Bold"/>
                <a:ea typeface="Times New Roman Bold"/>
                <a:cs typeface="Times New Roman Bold"/>
                <a:sym typeface="Times New Roman Bold"/>
              </a:rPr>
              <a:t>Limitations: </a:t>
            </a:r>
          </a:p>
          <a:p>
            <a:pPr marL="548519" lvl="2" indent="-182840" algn="l">
              <a:lnSpc>
                <a:spcPts val="4391"/>
              </a:lnSpc>
              <a:buFont typeface="Arial"/>
              <a:buChar char="⚬"/>
            </a:pPr>
            <a:r>
              <a:rPr lang="en-US" sz="2399" dirty="0">
                <a:solidFill>
                  <a:srgbClr val="1E4664"/>
                </a:solidFill>
                <a:latin typeface="Times New Roman MT"/>
                <a:ea typeface="Times New Roman MT"/>
                <a:cs typeface="Times New Roman MT"/>
                <a:sym typeface="Times New Roman MT"/>
              </a:rPr>
              <a:t>The project was based on secondary, pre-</a:t>
            </a:r>
            <a:r>
              <a:rPr lang="en-US" sz="2399" dirty="0" err="1">
                <a:solidFill>
                  <a:srgbClr val="1E4664"/>
                </a:solidFill>
                <a:latin typeface="Times New Roman MT"/>
                <a:ea typeface="Times New Roman MT"/>
                <a:cs typeface="Times New Roman MT"/>
                <a:sym typeface="Times New Roman MT"/>
              </a:rPr>
              <a:t>anonymised</a:t>
            </a:r>
            <a:r>
              <a:rPr lang="en-US" sz="2399" dirty="0">
                <a:solidFill>
                  <a:srgbClr val="1E4664"/>
                </a:solidFill>
                <a:latin typeface="Times New Roman MT"/>
                <a:ea typeface="Times New Roman MT"/>
                <a:cs typeface="Times New Roman MT"/>
                <a:sym typeface="Times New Roman MT"/>
              </a:rPr>
              <a:t> data with no potential beneficiaries/human users participating. As such, evidence of user feedback and consent did not exist.</a:t>
            </a:r>
          </a:p>
          <a:p>
            <a:pPr marL="548519" lvl="2" indent="-182840" algn="just">
              <a:lnSpc>
                <a:spcPts val="4391"/>
              </a:lnSpc>
            </a:pPr>
            <a:endParaRPr lang="en-US" sz="2399" dirty="0">
              <a:solidFill>
                <a:srgbClr val="1E4664"/>
              </a:solidFill>
              <a:latin typeface="Times New Roman MT"/>
              <a:ea typeface="Times New Roman MT"/>
              <a:cs typeface="Times New Roman MT"/>
              <a:sym typeface="Times New Roman MT"/>
            </a:endParaRPr>
          </a:p>
        </p:txBody>
      </p:sp>
      <p:sp>
        <p:nvSpPr>
          <p:cNvPr id="9" name="TextBox 9"/>
          <p:cNvSpPr txBox="1"/>
          <p:nvPr/>
        </p:nvSpPr>
        <p:spPr>
          <a:xfrm>
            <a:off x="12169797" y="7426900"/>
            <a:ext cx="4428677" cy="317497"/>
          </a:xfrm>
          <a:prstGeom prst="rect">
            <a:avLst/>
          </a:prstGeom>
        </p:spPr>
        <p:txBody>
          <a:bodyPr lIns="0" tIns="0" rIns="0" bIns="0" rtlCol="0" anchor="t">
            <a:spAutoFit/>
          </a:bodyPr>
          <a:lstStyle/>
          <a:p>
            <a:pPr algn="ctr">
              <a:lnSpc>
                <a:spcPts val="2000"/>
              </a:lnSpc>
            </a:pPr>
            <a:r>
              <a:rPr lang="en-US" sz="2000">
                <a:solidFill>
                  <a:srgbClr val="1E4664"/>
                </a:solidFill>
                <a:latin typeface="Times New Roman MT"/>
                <a:ea typeface="Times New Roman MT"/>
                <a:cs typeface="Times New Roman MT"/>
                <a:sym typeface="Times New Roman MT"/>
              </a:rPr>
              <a:t>Evaluation against Project Requirements.</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179" b="-179"/>
              </a:stretch>
            </a:blipFill>
          </p:spPr>
        </p:sp>
      </p:grpSp>
      <p:sp>
        <p:nvSpPr>
          <p:cNvPr id="4" name="Freeform 4"/>
          <p:cNvSpPr/>
          <p:nvPr/>
        </p:nvSpPr>
        <p:spPr>
          <a:xfrm>
            <a:off x="13836987" y="656749"/>
            <a:ext cx="3422313" cy="3379537"/>
          </a:xfrm>
          <a:custGeom>
            <a:avLst/>
            <a:gdLst/>
            <a:ahLst/>
            <a:cxnLst/>
            <a:rect l="l" t="t" r="r" b="b"/>
            <a:pathLst>
              <a:path w="3422313" h="3379537">
                <a:moveTo>
                  <a:pt x="0" y="0"/>
                </a:moveTo>
                <a:lnTo>
                  <a:pt x="3422313" y="0"/>
                </a:lnTo>
                <a:lnTo>
                  <a:pt x="3422313" y="3379536"/>
                </a:lnTo>
                <a:lnTo>
                  <a:pt x="0" y="3379536"/>
                </a:lnTo>
                <a:lnTo>
                  <a:pt x="0" y="0"/>
                </a:lnTo>
                <a:close/>
              </a:path>
            </a:pathLst>
          </a:custGeom>
          <a:blipFill>
            <a:blip r:embed="rId4">
              <a:extLst>
                <a:ext uri="{96DAC541-7B7A-43D3-8B79-37D633B846F1}">
                  <asvg:svgBlip xmlns:asvg="http://schemas.microsoft.com/office/drawing/2016/SVG/main" r:embed="rId5"/>
                </a:ext>
              </a:extLst>
            </a:blip>
            <a:stretch>
              <a:fillRect t="-70" b="-70"/>
            </a:stretch>
          </a:blipFill>
        </p:spPr>
      </p:sp>
      <p:sp>
        <p:nvSpPr>
          <p:cNvPr id="5" name="TextBox 5"/>
          <p:cNvSpPr txBox="1"/>
          <p:nvPr/>
        </p:nvSpPr>
        <p:spPr>
          <a:xfrm>
            <a:off x="2507399" y="359883"/>
            <a:ext cx="8535229" cy="968378"/>
          </a:xfrm>
          <a:prstGeom prst="rect">
            <a:avLst/>
          </a:prstGeom>
        </p:spPr>
        <p:txBody>
          <a:bodyPr lIns="0" tIns="0" rIns="0" bIns="0" rtlCol="0" anchor="t">
            <a:spAutoFit/>
          </a:bodyPr>
          <a:lstStyle/>
          <a:p>
            <a:pPr algn="l">
              <a:lnSpc>
                <a:spcPts val="6999"/>
              </a:lnSpc>
            </a:pPr>
            <a:r>
              <a:rPr lang="en-US" sz="6999" b="1">
                <a:solidFill>
                  <a:srgbClr val="1E4664"/>
                </a:solidFill>
                <a:latin typeface="Times New Roman Bold"/>
                <a:ea typeface="Times New Roman Bold"/>
                <a:cs typeface="Times New Roman Bold"/>
                <a:sym typeface="Times New Roman Bold"/>
              </a:rPr>
              <a:t>Conclusion</a:t>
            </a:r>
          </a:p>
        </p:txBody>
      </p:sp>
      <p:sp>
        <p:nvSpPr>
          <p:cNvPr id="6" name="Freeform 6"/>
          <p:cNvSpPr/>
          <p:nvPr/>
        </p:nvSpPr>
        <p:spPr>
          <a:xfrm flipH="1" flipV="1">
            <a:off x="15994399" y="7595178"/>
            <a:ext cx="3461576" cy="4114800"/>
          </a:xfrm>
          <a:custGeom>
            <a:avLst/>
            <a:gdLst/>
            <a:ahLst/>
            <a:cxnLst/>
            <a:rect l="l" t="t" r="r" b="b"/>
            <a:pathLst>
              <a:path w="3461576" h="4114800">
                <a:moveTo>
                  <a:pt x="3461576" y="4114800"/>
                </a:moveTo>
                <a:lnTo>
                  <a:pt x="0" y="4114800"/>
                </a:lnTo>
                <a:lnTo>
                  <a:pt x="0" y="0"/>
                </a:lnTo>
                <a:lnTo>
                  <a:pt x="3461576" y="0"/>
                </a:lnTo>
                <a:lnTo>
                  <a:pt x="3461576" y="4114800"/>
                </a:lnTo>
                <a:close/>
              </a:path>
            </a:pathLst>
          </a:custGeom>
          <a:blipFill>
            <a:blip r:embed="rId6">
              <a:extLst>
                <a:ext uri="{96DAC541-7B7A-43D3-8B79-37D633B846F1}">
                  <asvg:svgBlip xmlns:asvg="http://schemas.microsoft.com/office/drawing/2016/SVG/main" r:embed="rId7"/>
                </a:ext>
              </a:extLst>
            </a:blip>
            <a:stretch>
              <a:fillRect t="-35" b="-35"/>
            </a:stretch>
          </a:blipFill>
        </p:spPr>
      </p:sp>
      <p:sp>
        <p:nvSpPr>
          <p:cNvPr id="7" name="TextBox 7"/>
          <p:cNvSpPr txBox="1"/>
          <p:nvPr/>
        </p:nvSpPr>
        <p:spPr>
          <a:xfrm>
            <a:off x="319973" y="1373629"/>
            <a:ext cx="11663753" cy="8475726"/>
          </a:xfrm>
          <a:prstGeom prst="rect">
            <a:avLst/>
          </a:prstGeom>
        </p:spPr>
        <p:txBody>
          <a:bodyPr lIns="0" tIns="0" rIns="0" bIns="0" rtlCol="0" anchor="t">
            <a:spAutoFit/>
          </a:bodyPr>
          <a:lstStyle/>
          <a:p>
            <a:pPr marL="548519" lvl="2" indent="-182840" algn="l">
              <a:lnSpc>
                <a:spcPts val="4391"/>
              </a:lnSpc>
              <a:buFont typeface="Arial"/>
              <a:buChar char="⚬"/>
            </a:pPr>
            <a:r>
              <a:rPr lang="en-US" sz="2399">
                <a:solidFill>
                  <a:srgbClr val="1E4664"/>
                </a:solidFill>
                <a:latin typeface="Times New Roman MT"/>
                <a:ea typeface="Times New Roman MT"/>
                <a:cs typeface="Times New Roman MT"/>
                <a:sym typeface="Times New Roman MT"/>
              </a:rPr>
              <a:t>The project was successful in building and testing a pipeline for fraud detection with machine learning techniques SMOTE, Random Forest, XGBoost and a Stacking Ensemble.</a:t>
            </a:r>
          </a:p>
          <a:p>
            <a:pPr marL="548519" lvl="2" indent="-182840" algn="l">
              <a:lnSpc>
                <a:spcPts val="4391"/>
              </a:lnSpc>
              <a:buFont typeface="Arial"/>
              <a:buChar char="⚬"/>
            </a:pPr>
            <a:r>
              <a:rPr lang="en-US" sz="2399">
                <a:solidFill>
                  <a:srgbClr val="1E4664"/>
                </a:solidFill>
                <a:latin typeface="Times New Roman MT"/>
                <a:ea typeface="Times New Roman MT"/>
                <a:cs typeface="Times New Roman MT"/>
                <a:sym typeface="Times New Roman MT"/>
              </a:rPr>
              <a:t>The results indicated that the XGBoost had the greatest Base-dataset performance and the Stacking Ensemble had measurable robustness on the changing datasets. When it comes to stacking, however, it didn't improve upon XGBoost, and it took significantly longer to train.</a:t>
            </a:r>
          </a:p>
          <a:p>
            <a:pPr marL="548519" lvl="2" indent="-182840" algn="just">
              <a:lnSpc>
                <a:spcPts val="4391"/>
              </a:lnSpc>
            </a:pPr>
            <a:r>
              <a:rPr lang="en-US" sz="2399" b="1">
                <a:solidFill>
                  <a:srgbClr val="1E4664"/>
                </a:solidFill>
                <a:latin typeface="Times New Roman Bold"/>
                <a:ea typeface="Times New Roman Bold"/>
                <a:cs typeface="Times New Roman Bold"/>
                <a:sym typeface="Times New Roman Bold"/>
              </a:rPr>
              <a:t>Final Finding</a:t>
            </a:r>
          </a:p>
          <a:p>
            <a:pPr marL="548519" lvl="2" indent="-182840" algn="l">
              <a:lnSpc>
                <a:spcPts val="4391"/>
              </a:lnSpc>
              <a:buFont typeface="Arial"/>
              <a:buChar char="⚬"/>
            </a:pPr>
            <a:r>
              <a:rPr lang="en-US" sz="2399">
                <a:solidFill>
                  <a:srgbClr val="1E4664"/>
                </a:solidFill>
                <a:latin typeface="Times New Roman MT"/>
                <a:ea typeface="Times New Roman MT"/>
                <a:cs typeface="Times New Roman MT"/>
                <a:sym typeface="Times New Roman MT"/>
              </a:rPr>
              <a:t>The results of the research show that ensemble modelling can offer some good fraud-detection capability but it is not just a case of the bigger the ensemble, the better the performance.</a:t>
            </a:r>
          </a:p>
          <a:p>
            <a:pPr marL="548519" lvl="2" indent="-182840" algn="l">
              <a:lnSpc>
                <a:spcPts val="4391"/>
              </a:lnSpc>
              <a:buFont typeface="Arial"/>
              <a:buChar char="⚬"/>
            </a:pPr>
            <a:r>
              <a:rPr lang="en-US" sz="2399">
                <a:solidFill>
                  <a:srgbClr val="1E4664"/>
                </a:solidFill>
                <a:latin typeface="Times New Roman MT"/>
                <a:ea typeface="Times New Roman MT"/>
                <a:cs typeface="Times New Roman MT"/>
                <a:sym typeface="Times New Roman MT"/>
              </a:rPr>
              <a:t>Further research can be done to enhance fraud recall, optimise the ensemble architecture, and minimise computational costs before going into actual banking applications.</a:t>
            </a:r>
          </a:p>
          <a:p>
            <a:pPr marL="548519" lvl="2" indent="-182840" algn="just">
              <a:lnSpc>
                <a:spcPts val="4391"/>
              </a:lnSpc>
            </a:pPr>
            <a:endParaRPr lang="en-US" sz="2399">
              <a:solidFill>
                <a:srgbClr val="1E4664"/>
              </a:solidFill>
              <a:latin typeface="Times New Roman MT"/>
              <a:ea typeface="Times New Roman MT"/>
              <a:cs typeface="Times New Roman MT"/>
              <a:sym typeface="Times New Roman MT"/>
            </a:endParaRPr>
          </a:p>
        </p:txBody>
      </p:sp>
      <p:sp>
        <p:nvSpPr>
          <p:cNvPr id="8" name="Freeform 8"/>
          <p:cNvSpPr/>
          <p:nvPr/>
        </p:nvSpPr>
        <p:spPr>
          <a:xfrm>
            <a:off x="11475358" y="-1596838"/>
            <a:ext cx="7601121" cy="7582119"/>
          </a:xfrm>
          <a:custGeom>
            <a:avLst/>
            <a:gdLst/>
            <a:ahLst/>
            <a:cxnLst/>
            <a:rect l="l" t="t" r="r" b="b"/>
            <a:pathLst>
              <a:path w="7601121" h="7582119">
                <a:moveTo>
                  <a:pt x="0" y="0"/>
                </a:moveTo>
                <a:lnTo>
                  <a:pt x="7601122" y="0"/>
                </a:lnTo>
                <a:lnTo>
                  <a:pt x="7601122" y="7582119"/>
                </a:lnTo>
                <a:lnTo>
                  <a:pt x="0" y="758211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179" b="-179"/>
              </a:stretch>
            </a:blipFill>
          </p:spPr>
        </p:sp>
      </p:grpSp>
      <p:sp>
        <p:nvSpPr>
          <p:cNvPr id="4" name="TextBox 4"/>
          <p:cNvSpPr txBox="1"/>
          <p:nvPr/>
        </p:nvSpPr>
        <p:spPr>
          <a:xfrm>
            <a:off x="2544213" y="592141"/>
            <a:ext cx="13824928" cy="968378"/>
          </a:xfrm>
          <a:prstGeom prst="rect">
            <a:avLst/>
          </a:prstGeom>
        </p:spPr>
        <p:txBody>
          <a:bodyPr lIns="0" tIns="0" rIns="0" bIns="0" rtlCol="0" anchor="t">
            <a:spAutoFit/>
          </a:bodyPr>
          <a:lstStyle/>
          <a:p>
            <a:pPr algn="ctr">
              <a:lnSpc>
                <a:spcPts val="6999"/>
              </a:lnSpc>
            </a:pPr>
            <a:r>
              <a:rPr lang="en-US" sz="6999" b="1">
                <a:solidFill>
                  <a:srgbClr val="1E4664"/>
                </a:solidFill>
                <a:latin typeface="Times New Roman Bold"/>
                <a:ea typeface="Times New Roman Bold"/>
                <a:cs typeface="Times New Roman Bold"/>
                <a:sym typeface="Times New Roman Bold"/>
              </a:rPr>
              <a:t>References</a:t>
            </a:r>
          </a:p>
        </p:txBody>
      </p:sp>
      <p:sp>
        <p:nvSpPr>
          <p:cNvPr id="5" name="TextBox 5"/>
          <p:cNvSpPr txBox="1"/>
          <p:nvPr/>
        </p:nvSpPr>
        <p:spPr>
          <a:xfrm>
            <a:off x="574548" y="1697774"/>
            <a:ext cx="16369141" cy="5981700"/>
          </a:xfrm>
          <a:prstGeom prst="rect">
            <a:avLst/>
          </a:prstGeom>
        </p:spPr>
        <p:txBody>
          <a:bodyPr lIns="0" tIns="0" rIns="0" bIns="0" rtlCol="0" anchor="t">
            <a:spAutoFit/>
          </a:bodyPr>
          <a:lstStyle/>
          <a:p>
            <a:pPr marL="571379" lvl="2" indent="-190460" algn="just">
              <a:lnSpc>
                <a:spcPts val="3898"/>
              </a:lnSpc>
              <a:buFont typeface="Arial"/>
              <a:buChar char="⚬"/>
            </a:pPr>
            <a:r>
              <a:rPr lang="en-US" sz="2499">
                <a:solidFill>
                  <a:srgbClr val="1E4664"/>
                </a:solidFill>
                <a:latin typeface="Times New Roman MT"/>
                <a:ea typeface="Times New Roman MT"/>
                <a:cs typeface="Times New Roman MT"/>
                <a:sym typeface="Times New Roman MT"/>
              </a:rPr>
              <a:t>George, M. Z. H., Alam, M. K., &amp; Hasan, M. T. (2025). Machine learning for fraud detection in digital banking: A systematic literature review. arXiv preprint arXiv:2510.05167. https://doi.org/10.63125/913ksy63</a:t>
            </a:r>
          </a:p>
          <a:p>
            <a:pPr marL="571379" lvl="2" indent="-190460" algn="just">
              <a:lnSpc>
                <a:spcPts val="3898"/>
              </a:lnSpc>
              <a:buFont typeface="Arial"/>
              <a:buChar char="⚬"/>
            </a:pPr>
            <a:r>
              <a:rPr lang="en-US" sz="2499">
                <a:solidFill>
                  <a:srgbClr val="1E4664"/>
                </a:solidFill>
                <a:latin typeface="Times New Roman MT"/>
                <a:ea typeface="Times New Roman MT"/>
                <a:cs typeface="Times New Roman MT"/>
                <a:sym typeface="Times New Roman MT"/>
              </a:rPr>
              <a:t>Guterres, J. X., Widwaningtyas, T., &amp; Zaeni, I. A. E. (2026). Fraud Identification in Online Financial Transactions Combining SMOTE and Ensemble Classifiers. Engineering, Technology &amp; Applied Science Research, 16(2), 33323–33333. https://doi.org/10.48084/etasr.16615</a:t>
            </a:r>
          </a:p>
          <a:p>
            <a:pPr marL="571379" lvl="2" indent="-190460" algn="just">
              <a:lnSpc>
                <a:spcPts val="3898"/>
              </a:lnSpc>
              <a:buFont typeface="Arial"/>
              <a:buChar char="⚬"/>
            </a:pPr>
            <a:r>
              <a:rPr lang="en-US" sz="2499">
                <a:solidFill>
                  <a:srgbClr val="1E4664"/>
                </a:solidFill>
                <a:latin typeface="Times New Roman MT"/>
                <a:ea typeface="Times New Roman MT"/>
                <a:cs typeface="Times New Roman MT"/>
                <a:sym typeface="Times New Roman MT"/>
              </a:rPr>
              <a:t>Manzoor, M. F., &amp; Aslam, M. F. (2025). Enhancing banking fraud detection: Role of machine learning and deep learning methods. Premier Journal of Artificial Intelligence, 1(1). https://doi.org/10.70389/PJAI.100014</a:t>
            </a:r>
          </a:p>
          <a:p>
            <a:pPr marL="571379" lvl="2" indent="-190460" algn="just">
              <a:lnSpc>
                <a:spcPts val="3898"/>
              </a:lnSpc>
              <a:buFont typeface="Arial"/>
              <a:buChar char="⚬"/>
            </a:pPr>
            <a:r>
              <a:rPr lang="en-US" sz="2499">
                <a:solidFill>
                  <a:srgbClr val="1E4664"/>
                </a:solidFill>
                <a:latin typeface="Times New Roman MT"/>
                <a:ea typeface="Times New Roman MT"/>
                <a:cs typeface="Times New Roman MT"/>
                <a:sym typeface="Times New Roman MT"/>
              </a:rPr>
              <a:t>Naeem, W., Butt, M. A., &amp; Javeid, U. (2026). Machine Learning-Based Fraud Detection Systems and Their Effectiveness in Reducing Cybersecurity Risks in Digital Banking. Social Science Review Archives, 4(2), 2553–2573. https://doi.org/10.70670/sra.v4i2.2344</a:t>
            </a:r>
          </a:p>
          <a:p>
            <a:pPr marL="571379" lvl="2" indent="-190460" algn="just">
              <a:lnSpc>
                <a:spcPts val="3898"/>
              </a:lnSpc>
              <a:buFont typeface="Arial"/>
              <a:buChar char="⚬"/>
            </a:pPr>
            <a:r>
              <a:rPr lang="en-US" sz="2499">
                <a:solidFill>
                  <a:srgbClr val="1E4664"/>
                </a:solidFill>
                <a:latin typeface="Times New Roman MT"/>
                <a:ea typeface="Times New Roman MT"/>
                <a:cs typeface="Times New Roman MT"/>
                <a:sym typeface="Times New Roman MT"/>
              </a:rPr>
              <a:t>Rajasekar, A., Patra, S., Dua, R., Rajmane, A., &amp; Atulker, P. K. (2026). Machine Learning Applications in Fraud Detection for Digital Banking. International Journal of Advances in Signal and Image Sciences, 1880–1895.</a:t>
            </a: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179" b="-179"/>
              </a:stretch>
            </a:blipFill>
          </p:spPr>
        </p:sp>
      </p:grpSp>
      <p:sp>
        <p:nvSpPr>
          <p:cNvPr id="4" name="Freeform 4"/>
          <p:cNvSpPr/>
          <p:nvPr/>
        </p:nvSpPr>
        <p:spPr>
          <a:xfrm>
            <a:off x="14826424" y="-768048"/>
            <a:ext cx="3461576" cy="4114800"/>
          </a:xfrm>
          <a:custGeom>
            <a:avLst/>
            <a:gdLst/>
            <a:ahLst/>
            <a:cxnLst/>
            <a:rect l="l" t="t" r="r" b="b"/>
            <a:pathLst>
              <a:path w="3461576" h="4114800">
                <a:moveTo>
                  <a:pt x="0" y="0"/>
                </a:moveTo>
                <a:lnTo>
                  <a:pt x="3461576" y="0"/>
                </a:lnTo>
                <a:lnTo>
                  <a:pt x="3461576"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t="-35" b="-35"/>
            </a:stretch>
          </a:blipFill>
        </p:spPr>
      </p:sp>
      <p:sp>
        <p:nvSpPr>
          <p:cNvPr id="5" name="Freeform 5"/>
          <p:cNvSpPr/>
          <p:nvPr/>
        </p:nvSpPr>
        <p:spPr>
          <a:xfrm>
            <a:off x="14337697" y="5953125"/>
            <a:ext cx="3456432" cy="4114800"/>
          </a:xfrm>
          <a:custGeom>
            <a:avLst/>
            <a:gdLst/>
            <a:ahLst/>
            <a:cxnLst/>
            <a:rect l="l" t="t" r="r" b="b"/>
            <a:pathLst>
              <a:path w="3456432" h="4114800">
                <a:moveTo>
                  <a:pt x="0" y="0"/>
                </a:moveTo>
                <a:lnTo>
                  <a:pt x="3456432" y="0"/>
                </a:lnTo>
                <a:lnTo>
                  <a:pt x="3456432"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154" r="-154"/>
            </a:stretch>
          </a:blipFill>
        </p:spPr>
      </p:sp>
      <p:sp>
        <p:nvSpPr>
          <p:cNvPr id="6" name="TextBox 6"/>
          <p:cNvSpPr txBox="1"/>
          <p:nvPr/>
        </p:nvSpPr>
        <p:spPr>
          <a:xfrm>
            <a:off x="1545417" y="2656316"/>
            <a:ext cx="13252933" cy="6155468"/>
          </a:xfrm>
          <a:prstGeom prst="rect">
            <a:avLst/>
          </a:prstGeom>
        </p:spPr>
        <p:txBody>
          <a:bodyPr lIns="0" tIns="0" rIns="0" bIns="0" rtlCol="0" anchor="t">
            <a:spAutoFit/>
          </a:bodyPr>
          <a:lstStyle/>
          <a:p>
            <a:pPr marL="731396" lvl="2" indent="-243799" algn="l">
              <a:lnSpc>
                <a:spcPts val="5374"/>
              </a:lnSpc>
              <a:buFont typeface="Arial"/>
              <a:buChar char="⚬"/>
            </a:pPr>
            <a:endParaRPr lang="en-US" sz="3198" b="1" spc="85" dirty="0">
              <a:solidFill>
                <a:srgbClr val="1E4664"/>
              </a:solidFill>
              <a:latin typeface="Times New Roman Bold"/>
              <a:ea typeface="Times New Roman Bold"/>
              <a:cs typeface="Times New Roman Bold"/>
              <a:sym typeface="Times New Roman Bold"/>
            </a:endParaRPr>
          </a:p>
          <a:p>
            <a:pPr marL="731396" lvl="2" indent="-243799" algn="l">
              <a:lnSpc>
                <a:spcPts val="5374"/>
              </a:lnSpc>
              <a:buFont typeface="Arial"/>
              <a:buChar char="⚬"/>
            </a:pPr>
            <a:r>
              <a:rPr lang="en-US" sz="3198" b="1" spc="85" dirty="0">
                <a:solidFill>
                  <a:srgbClr val="1E4664"/>
                </a:solidFill>
                <a:latin typeface="Times New Roman Bold"/>
                <a:ea typeface="Times New Roman Bold"/>
                <a:cs typeface="Times New Roman Bold"/>
                <a:sym typeface="Times New Roman Bold"/>
              </a:rPr>
              <a:t>This assessment aligns with **AITS Level 2 (AI for shaping)** configurations permitted under university academic conduct policies.</a:t>
            </a:r>
          </a:p>
          <a:p>
            <a:pPr marL="487597" lvl="2" algn="l">
              <a:lnSpc>
                <a:spcPts val="5374"/>
              </a:lnSpc>
            </a:pPr>
            <a:endParaRPr lang="en-US" sz="3198" b="1" spc="85" dirty="0">
              <a:solidFill>
                <a:srgbClr val="1E4664"/>
              </a:solidFill>
              <a:latin typeface="Times New Roman Bold"/>
              <a:ea typeface="Times New Roman Bold"/>
              <a:cs typeface="Times New Roman Bold"/>
              <a:sym typeface="Times New Roman Bold"/>
            </a:endParaRPr>
          </a:p>
          <a:p>
            <a:pPr marL="731396" lvl="2" indent="-243799" algn="l">
              <a:lnSpc>
                <a:spcPts val="5374"/>
              </a:lnSpc>
              <a:buFont typeface="Arial"/>
              <a:buChar char="⚬"/>
            </a:pPr>
            <a:r>
              <a:rPr lang="en-US" sz="3198" b="1" spc="85" dirty="0">
                <a:solidFill>
                  <a:srgbClr val="1E4664"/>
                </a:solidFill>
                <a:latin typeface="Times New Roman Bold"/>
                <a:ea typeface="Times New Roman Bold"/>
                <a:cs typeface="Times New Roman Bold"/>
                <a:sym typeface="Times New Roman Bold"/>
              </a:rPr>
              <a:t>AI tools were used to support the preparation of this presentation, including language refinement and proofreading, while the research, analysis, implementation, results, and conclusions were independently human-generated.</a:t>
            </a:r>
          </a:p>
        </p:txBody>
      </p:sp>
      <p:sp>
        <p:nvSpPr>
          <p:cNvPr id="7" name="TextBox 7"/>
          <p:cNvSpPr txBox="1"/>
          <p:nvPr/>
        </p:nvSpPr>
        <p:spPr>
          <a:xfrm>
            <a:off x="2191731" y="669822"/>
            <a:ext cx="12634693" cy="1795363"/>
          </a:xfrm>
          <a:prstGeom prst="rect">
            <a:avLst/>
          </a:prstGeom>
        </p:spPr>
        <p:txBody>
          <a:bodyPr lIns="0" tIns="0" rIns="0" bIns="0" rtlCol="0" anchor="t">
            <a:spAutoFit/>
          </a:bodyPr>
          <a:lstStyle/>
          <a:p>
            <a:pPr algn="ctr">
              <a:lnSpc>
                <a:spcPts val="6999"/>
              </a:lnSpc>
            </a:pPr>
            <a:r>
              <a:rPr lang="en-US" sz="6999" b="1" dirty="0">
                <a:solidFill>
                  <a:srgbClr val="1E4664"/>
                </a:solidFill>
                <a:latin typeface="Times New Roman Bold"/>
                <a:ea typeface="Times New Roman Bold"/>
                <a:cs typeface="Times New Roman Bold"/>
                <a:sym typeface="Times New Roman Bold"/>
              </a:rPr>
              <a:t>AI Transparency Scale (AITS) Declaration</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179" b="-179"/>
              </a:stretch>
            </a:blipFill>
          </p:spPr>
        </p:sp>
      </p:grpSp>
      <p:sp>
        <p:nvSpPr>
          <p:cNvPr id="4" name="TextBox 4"/>
          <p:cNvSpPr txBox="1"/>
          <p:nvPr/>
        </p:nvSpPr>
        <p:spPr>
          <a:xfrm>
            <a:off x="1028700" y="4555236"/>
            <a:ext cx="9617402" cy="2085975"/>
          </a:xfrm>
          <a:prstGeom prst="rect">
            <a:avLst/>
          </a:prstGeom>
        </p:spPr>
        <p:txBody>
          <a:bodyPr lIns="0" tIns="0" rIns="0" bIns="0" rtlCol="0" anchor="t">
            <a:spAutoFit/>
          </a:bodyPr>
          <a:lstStyle/>
          <a:p>
            <a:pPr algn="l">
              <a:lnSpc>
                <a:spcPts val="15000"/>
              </a:lnSpc>
            </a:pPr>
            <a:r>
              <a:rPr lang="en-US" sz="15000" b="1">
                <a:solidFill>
                  <a:srgbClr val="1E4664"/>
                </a:solidFill>
                <a:latin typeface="Times New Roman Bold"/>
                <a:ea typeface="Times New Roman Bold"/>
                <a:cs typeface="Times New Roman Bold"/>
                <a:sym typeface="Times New Roman Bold"/>
              </a:rPr>
              <a:t>Thank You</a:t>
            </a:r>
          </a:p>
        </p:txBody>
      </p:sp>
      <p:sp>
        <p:nvSpPr>
          <p:cNvPr id="5" name="Freeform 5"/>
          <p:cNvSpPr/>
          <p:nvPr/>
        </p:nvSpPr>
        <p:spPr>
          <a:xfrm>
            <a:off x="9398060" y="1925974"/>
            <a:ext cx="9799625" cy="11648885"/>
          </a:xfrm>
          <a:custGeom>
            <a:avLst/>
            <a:gdLst/>
            <a:ahLst/>
            <a:cxnLst/>
            <a:rect l="l" t="t" r="r" b="b"/>
            <a:pathLst>
              <a:path w="9799625" h="11648885">
                <a:moveTo>
                  <a:pt x="0" y="0"/>
                </a:moveTo>
                <a:lnTo>
                  <a:pt x="9799625" y="0"/>
                </a:lnTo>
                <a:lnTo>
                  <a:pt x="9799625" y="11648885"/>
                </a:lnTo>
                <a:lnTo>
                  <a:pt x="0" y="11648885"/>
                </a:lnTo>
                <a:lnTo>
                  <a:pt x="0" y="0"/>
                </a:lnTo>
                <a:close/>
              </a:path>
            </a:pathLst>
          </a:custGeom>
          <a:blipFill>
            <a:blip r:embed="rId4">
              <a:extLst>
                <a:ext uri="{96DAC541-7B7A-43D3-8B79-37D633B846F1}">
                  <asvg:svgBlip xmlns:asvg="http://schemas.microsoft.com/office/drawing/2016/SVG/main" r:embed="rId5"/>
                </a:ext>
              </a:extLst>
            </a:blip>
            <a:stretch>
              <a:fillRect t="-33" b="-33"/>
            </a:stretch>
          </a:blipFill>
        </p:spPr>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108</TotalTime>
  <Words>1433</Words>
  <PresentationFormat>Custom</PresentationFormat>
  <Paragraphs>215</Paragraphs>
  <Slides>15</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Times New Roman MT</vt:lpstr>
      <vt:lpstr>Times New Roman Bold</vt:lpstr>
      <vt:lpstr>Calibri</vt:lpstr>
      <vt:lpstr>Arial</vt:lpstr>
      <vt:lpstr>Times New Roman MT Bold</vt:lpstr>
      <vt:lpstr>Times New Roman</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terms:modified xsi:type="dcterms:W3CDTF">2026-09-09T19:33:30Z</dcterms:modified>
  <dc:identifier>DAHUVZZ-mXM</dc:identifier>
</cp:coreProperties>
</file>