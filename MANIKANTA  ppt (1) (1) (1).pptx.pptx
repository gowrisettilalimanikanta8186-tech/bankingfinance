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Times New Roman Bold" panose="02020803070505020304" pitchFamily="18" charset="0"/>
      <p:regular r:id="rId18"/>
      <p:bold r:id="rId19"/>
    </p:embeddedFont>
    <p:embeddedFont>
      <p:font typeface="Times New Roman MT" panose="020B0604020202020204" charset="0"/>
      <p:regular r:id="rId20"/>
    </p:embeddedFont>
    <p:embeddedFont>
      <p:font typeface="Times New Roman MT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9300" autoAdjust="0"/>
  </p:normalViewPr>
  <p:slideViewPr>
    <p:cSldViewPr>
      <p:cViewPr varScale="1">
        <p:scale>
          <a:sx n="74" d="100"/>
          <a:sy n="74" d="100"/>
        </p:scale>
        <p:origin x="89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sz="1200" kern="1200" dirty="0">
                <a:solidFill>
                  <a:schemeClr val="tx1"/>
                </a:solidFill>
                <a:effectLst/>
                <a:latin typeface="+mn-lt"/>
                <a:ea typeface="+mn-ea"/>
                <a:cs typeface="+mn-cs"/>
              </a:rPr>
              <a:t>Digital banking has experienced exponential transaction growth, but the rapid expansion has made fraud patterns much more complicated and adaptive. Conventional rule-based systems and standalone machine learning models are struggling to detect non-linear fraud behaviours and have often generated high false positive rates, which degrades the experience of customers.</a:t>
            </a:r>
            <a:endParaRPr lang="en-US"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In order to address these challenges, the main aim of the research is to assess, develop, and implement a machine learning-based ensemble model that can maximise precision of fraud detection while minimising false positives throughout high-velocity digital banking transactions.</a:t>
            </a:r>
            <a:endParaRPr lang="en-US"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In order to achieve this overarching aim, four specific research objectives were established. Firstly, to preprocess transaction datasets and tackle severe class imbalance by using techniques such as SMOTE without causing data leakage. Secondly, to design a dynamic stacking ensemble framework which combines diverse base classifiers, particularly </a:t>
            </a:r>
            <a:r>
              <a:rPr lang="en-GB" sz="1200" kern="1200" dirty="0" err="1">
                <a:solidFill>
                  <a:schemeClr val="tx1"/>
                </a:solidFill>
                <a:effectLst/>
                <a:latin typeface="+mn-lt"/>
                <a:ea typeface="+mn-ea"/>
                <a:cs typeface="+mn-cs"/>
              </a:rPr>
              <a:t>XGBoost</a:t>
            </a:r>
            <a:r>
              <a:rPr lang="en-GB" sz="1200" kern="1200" dirty="0">
                <a:solidFill>
                  <a:schemeClr val="tx1"/>
                </a:solidFill>
                <a:effectLst/>
                <a:latin typeface="+mn-lt"/>
                <a:ea typeface="+mn-ea"/>
                <a:cs typeface="+mn-cs"/>
              </a:rPr>
              <a:t> and Random Forest, with a logistic regression meta-classifier. Thirdly, to optimise parameters and decision thresholds for balancing precision and rates of false positives. Finally, to assess the ensemble against baseline models throughout main performance metrics which include F1-score, AUC-ROC, and computational latency.</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sz="1200" kern="1200" dirty="0">
                <a:solidFill>
                  <a:schemeClr val="tx1"/>
                </a:solidFill>
                <a:effectLst/>
                <a:latin typeface="+mn-lt"/>
                <a:ea typeface="+mn-ea"/>
                <a:cs typeface="+mn-cs"/>
              </a:rPr>
              <a:t>Moving to the literature review, the analysis has highlighted four recurring core challenges in digital banking fraud detection, which are severe class imbalance, high false positive rates, complexities in model selection, and operational computational efficiency. In order to address extreme class imbalance, techniques such as SMOTE oversampling and curated feature engineering are supported widely in the current research. In addition to this, ensemble methods are raised frequently for making use of complementary strengths of multiple classifiers for capturing complicated fraud patterns. While methods of deep learning can achieve strong predictive performance, literature can demonstrate that they do so at significantly higher costs of computation, and this makes them challenging for real-time applications.</a:t>
            </a:r>
            <a:endParaRPr lang="en-US"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discussion to the key research issues identified throughout existing studies. Achieving a practical balance between maximising fraud recall, maintaining ultra-low computational latency, minimising rates of false positives, and ensuring strength against changing data distributions have remained a major challenge. The research has directly addressed this gap by quantitatively assessing if a stacked ensemble can offer balanced improvement over optimised standalone models.</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sz="1200" kern="1200" dirty="0">
                <a:solidFill>
                  <a:schemeClr val="tx1"/>
                </a:solidFill>
                <a:effectLst/>
                <a:latin typeface="+mn-lt"/>
                <a:ea typeface="+mn-ea"/>
                <a:cs typeface="+mn-cs"/>
              </a:rPr>
              <a:t>Moving on to the research methodology, this study conducted and applied computational and quantitative framework which depends on secondary data. For this particular dataset, the project has made use of the Public Bank Account Fraud dataset from </a:t>
            </a:r>
            <a:r>
              <a:rPr lang="en-GB" sz="1200" kern="1200" dirty="0" err="1">
                <a:solidFill>
                  <a:schemeClr val="tx1"/>
                </a:solidFill>
                <a:effectLst/>
                <a:latin typeface="+mn-lt"/>
                <a:ea typeface="+mn-ea"/>
                <a:cs typeface="+mn-cs"/>
              </a:rPr>
              <a:t>NeurIPS</a:t>
            </a:r>
            <a:r>
              <a:rPr lang="en-GB" sz="1200" kern="1200" dirty="0">
                <a:solidFill>
                  <a:schemeClr val="tx1"/>
                </a:solidFill>
                <a:effectLst/>
                <a:latin typeface="+mn-lt"/>
                <a:ea typeface="+mn-ea"/>
                <a:cs typeface="+mn-cs"/>
              </a:rPr>
              <a:t> 2022, accessed via Kaggle. It comprised nearly 1 million records throughout 30 features and exhibited severe class imbalance, and it mirrored real-world operational challenges of digital banking fraud.</a:t>
            </a:r>
            <a:endParaRPr lang="en-US"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experimental process followed a structured pipeline of machine learning. After cleaning and preprocessing, the data was partitioned by using a 70/30 stratified split to preserve class proportions. More importantly, in order to strictly avoid performance inflation and data leakage, SMOTE resampling was implemented exclusively to the training set. Following oversampling, baseline models and the stacked ensemble were trained and validated. Finally, assessment of the model was conducted comprehensively throughout multiple metrics of Precision, Recall, F1-score, AUC-ROC, False Positive Rate, and computational latency, and this ensured that both real-time efficiency and predictive quality were measured.</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sz="1200" kern="1200" dirty="0">
                <a:solidFill>
                  <a:schemeClr val="tx1"/>
                </a:solidFill>
                <a:effectLst/>
                <a:latin typeface="+mn-lt"/>
                <a:ea typeface="+mn-ea"/>
                <a:cs typeface="+mn-cs"/>
              </a:rPr>
              <a:t>Addressing the ethical considerations, this project has depended early on publicly available and pre-anonymised secondary dataset, which means that no primary data collection was carried out and no human participants were involved. Since no personally identifiable information was processed, typical risks related to participants, such as privacy breaches, informed consent, or individual identification, were fully mitigated. In addition to this, data security and integrity were maintained strictly by storing all the files on password-protected digital storage which are accessible only to the primary researcher. In terms of formal ethics approval, the study met the criteria for the UREC2 Low Risk Human Participant Research Ethics framework. As a result, no external or NHS Ethics Committee approval was needed for executing the research.</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With regards to the project design and implementation, the technical system was engineered for specifically addressing class imbalance, high fraud detection accuracy, low computational latency, and false positive reduction. The framework has followed a sequential end-to-end processing pipeline which is implemented entirely in Python by using scikit-learn and pandas. The workflow begins with preprocessing and data ingestion, where categorical features were encoded and the missing values were resolved. In order to address the severe class distribution skew without introducing data leakage into the test set, SMOTE oversampling was implemented exclusively to the training split.</a:t>
            </a:r>
            <a:endParaRPr lang="en-US"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After data preparation, multiple base classifiers, particularly </a:t>
            </a:r>
            <a:r>
              <a:rPr lang="en-GB" sz="1200" kern="1200" dirty="0" err="1">
                <a:solidFill>
                  <a:schemeClr val="tx1"/>
                </a:solidFill>
                <a:effectLst/>
                <a:latin typeface="+mn-lt"/>
                <a:ea typeface="+mn-ea"/>
                <a:cs typeface="+mn-cs"/>
              </a:rPr>
              <a:t>XGBoost</a:t>
            </a:r>
            <a:r>
              <a:rPr lang="en-GB" sz="1200" kern="1200" dirty="0">
                <a:solidFill>
                  <a:schemeClr val="tx1"/>
                </a:solidFill>
                <a:effectLst/>
                <a:latin typeface="+mn-lt"/>
                <a:ea typeface="+mn-ea"/>
                <a:cs typeface="+mn-cs"/>
              </a:rPr>
              <a:t> and Random Forest, were trained on the balanced data. Predictions generated by such base models were fed into a dynamic stacking ensemble which may not use a logistic regression meta-classifier. Decision thresholds and hyperparameters were fine-tuned systematically for balancing precision against false positive rates before generating final fraud classifications. The complete architecture automated the full machine learning procedure, bridging raw data preprocessing, performance evaluation, and ensemble modelling within a unified computational flow.</a:t>
            </a:r>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3631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sz="1200" kern="1200" dirty="0">
                <a:solidFill>
                  <a:schemeClr val="tx1"/>
                </a:solidFill>
                <a:effectLst/>
                <a:latin typeface="+mn-lt"/>
                <a:ea typeface="+mn-ea"/>
                <a:cs typeface="+mn-cs"/>
              </a:rPr>
              <a:t>Focusing on the development of prototype, the functional fraud detection pipeline was implemented successfully in Python by using scikit-learn and pandas. The technical implementation incorporated two baseline models of a Random Forest classifier and an </a:t>
            </a:r>
            <a:r>
              <a:rPr lang="en-GB" sz="1200" kern="1200" dirty="0" err="1">
                <a:solidFill>
                  <a:schemeClr val="tx1"/>
                </a:solidFill>
                <a:effectLst/>
                <a:latin typeface="+mn-lt"/>
                <a:ea typeface="+mn-ea"/>
                <a:cs typeface="+mn-cs"/>
              </a:rPr>
              <a:t>XGBoost</a:t>
            </a:r>
            <a:r>
              <a:rPr lang="en-GB" sz="1200" kern="1200" dirty="0">
                <a:solidFill>
                  <a:schemeClr val="tx1"/>
                </a:solidFill>
                <a:effectLst/>
                <a:latin typeface="+mn-lt"/>
                <a:ea typeface="+mn-ea"/>
                <a:cs typeface="+mn-cs"/>
              </a:rPr>
              <a:t> gradient-boosting classifier. These baseline algorithms were trained individually for establishing core performance benchmarks. In addition to this, a stacking ensemble architecture was also constructed which combined the probability predictions of </a:t>
            </a:r>
            <a:r>
              <a:rPr lang="en-GB" sz="1200" kern="1200" dirty="0" err="1">
                <a:solidFill>
                  <a:schemeClr val="tx1"/>
                </a:solidFill>
                <a:effectLst/>
                <a:latin typeface="+mn-lt"/>
                <a:ea typeface="+mn-ea"/>
                <a:cs typeface="+mn-cs"/>
              </a:rPr>
              <a:t>XGBoost</a:t>
            </a:r>
            <a:r>
              <a:rPr lang="en-GB" sz="1200" kern="1200" dirty="0">
                <a:solidFill>
                  <a:schemeClr val="tx1"/>
                </a:solidFill>
                <a:effectLst/>
                <a:latin typeface="+mn-lt"/>
                <a:ea typeface="+mn-ea"/>
                <a:cs typeface="+mn-cs"/>
              </a:rPr>
              <a:t> and Random Forest by using a Logistic Regression meta-classifier.</a:t>
            </a:r>
            <a:endParaRPr lang="en-US"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execution of prototype covered the full machine learning life cycle, which automated preprocessing, SMOTE oversampling, prediction generation, model training, and performance assessment. As shown by the confusion matrix and precision-recall curve artefacts, the prototype captured the precision-recall trade-offs and error distributions effectively across the evaluated models.</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sz="1200" kern="1200" dirty="0">
                <a:solidFill>
                  <a:schemeClr val="tx1"/>
                </a:solidFill>
                <a:effectLst/>
                <a:latin typeface="+mn-lt"/>
                <a:ea typeface="+mn-ea"/>
                <a:cs typeface="+mn-cs"/>
              </a:rPr>
              <a:t>Examining the results, an assessment on the base dataset an important finding emerged. </a:t>
            </a:r>
            <a:r>
              <a:rPr lang="en-GB" sz="1200" kern="1200" dirty="0" err="1">
                <a:solidFill>
                  <a:schemeClr val="tx1"/>
                </a:solidFill>
                <a:effectLst/>
                <a:latin typeface="+mn-lt"/>
                <a:ea typeface="+mn-ea"/>
                <a:cs typeface="+mn-cs"/>
              </a:rPr>
              <a:t>XGBoost</a:t>
            </a:r>
            <a:r>
              <a:rPr lang="en-GB" sz="1200" kern="1200" dirty="0">
                <a:solidFill>
                  <a:schemeClr val="tx1"/>
                </a:solidFill>
                <a:effectLst/>
                <a:latin typeface="+mn-lt"/>
                <a:ea typeface="+mn-ea"/>
                <a:cs typeface="+mn-cs"/>
              </a:rPr>
              <a:t> outperformed the stacking ensemble through predictive metrics while training significantly faster. Particularly, </a:t>
            </a:r>
            <a:r>
              <a:rPr lang="en-GB" sz="1200" kern="1200" dirty="0" err="1">
                <a:solidFill>
                  <a:schemeClr val="tx1"/>
                </a:solidFill>
                <a:effectLst/>
                <a:latin typeface="+mn-lt"/>
                <a:ea typeface="+mn-ea"/>
                <a:cs typeface="+mn-cs"/>
              </a:rPr>
              <a:t>XGBoost</a:t>
            </a:r>
            <a:r>
              <a:rPr lang="en-GB" sz="1200" kern="1200" dirty="0">
                <a:solidFill>
                  <a:schemeClr val="tx1"/>
                </a:solidFill>
                <a:effectLst/>
                <a:latin typeface="+mn-lt"/>
                <a:ea typeface="+mn-ea"/>
                <a:cs typeface="+mn-cs"/>
              </a:rPr>
              <a:t> achieved the highest performance with an F1 score of 0.0576, an AUC-ROC of 0.8441, and a low false positive rate of 0.0020, and it took only 3.05 seconds to train. In comparison, the stacking ensemble yielded an F1 score of 0.0546, an AUC-ROC of 0.7838, and an FPR of 0.0027, and it required a training time of 118.86 seconds. Random Forest recorded an F1 score of 0.0451 and an AUC-ROC of 0.8271. Such methods have demonstrated that adding ensemble complexity cannot automatically guarantee superior performance over a strong standalone model.</a:t>
            </a:r>
            <a:endParaRPr lang="en-US"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With regards to robustness, the stacking ensemble retained measurable generalisation throughout five variant datasets under distributional and temporal shifts as it reached its peak F1 score of 0.1250 on Variant II. In addition to this, applying SMOTE to the training set successfully balanced the class distribution to roughly 70,000 records per class, thereby addressing the initial severe class imbalance without leaking the data into assessment splits.</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sz="1200" kern="1200" dirty="0">
                <a:solidFill>
                  <a:schemeClr val="tx1"/>
                </a:solidFill>
                <a:effectLst/>
                <a:latin typeface="+mn-lt"/>
                <a:ea typeface="+mn-ea"/>
                <a:cs typeface="+mn-cs"/>
              </a:rPr>
              <a:t>For the system evaluation, eight formal acceptance tests were executed throughout the entire technical pipeline, which includes preprocessing, data load, model training, SMOTE handling, metric evaluation, false positive testing, and computational assessment. All eight system tests achieved a pass status, which confirmed end-to-end functional reliability. In the overall project evaluation, the core technical requirements were met successfully. These included resolving severe class imbalance, constructing a stacked ensemble, evaluating predictive metrics, implementing multiple base classifiers, measuring latency, analysing false-positive rates, and conducting variant robustness testing.</a:t>
            </a:r>
            <a:endParaRPr lang="en-US"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An important limitation of the evaluation stemmed from the usage of pre-anonymised and secondary data without direct participation of human subjects. As a result, stakeholder validation, qualitative user feedback, and consent documentation were not applicable. System acceptance was thereby validated strictly through quantitative metrics evaluation against requirements and objective test cases.</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sz="1200" kern="1200" dirty="0">
                <a:solidFill>
                  <a:schemeClr val="tx1"/>
                </a:solidFill>
                <a:effectLst/>
                <a:latin typeface="+mn-lt"/>
                <a:ea typeface="+mn-ea"/>
                <a:cs typeface="+mn-cs"/>
              </a:rPr>
              <a:t>In conclusion, this project successfully applied and assessed an end-to-end machine learning pipeline for fraud detection in digital banking by using SMOTE, Random Forest, </a:t>
            </a:r>
            <a:r>
              <a:rPr lang="en-GB" sz="1200" kern="1200" dirty="0" err="1">
                <a:solidFill>
                  <a:schemeClr val="tx1"/>
                </a:solidFill>
                <a:effectLst/>
                <a:latin typeface="+mn-lt"/>
                <a:ea typeface="+mn-ea"/>
                <a:cs typeface="+mn-cs"/>
              </a:rPr>
              <a:t>XGBoost</a:t>
            </a:r>
            <a:r>
              <a:rPr lang="en-GB" sz="1200" kern="1200" dirty="0">
                <a:solidFill>
                  <a:schemeClr val="tx1"/>
                </a:solidFill>
                <a:effectLst/>
                <a:latin typeface="+mn-lt"/>
                <a:ea typeface="+mn-ea"/>
                <a:cs typeface="+mn-cs"/>
              </a:rPr>
              <a:t>, and a Stacking Ensemble. Quantitative assessment demonstrated that </a:t>
            </a:r>
            <a:r>
              <a:rPr lang="en-GB" sz="1200" kern="1200" dirty="0" err="1">
                <a:solidFill>
                  <a:schemeClr val="tx1"/>
                </a:solidFill>
                <a:effectLst/>
                <a:latin typeface="+mn-lt"/>
                <a:ea typeface="+mn-ea"/>
                <a:cs typeface="+mn-cs"/>
              </a:rPr>
              <a:t>XGBoost</a:t>
            </a:r>
            <a:r>
              <a:rPr lang="en-GB" sz="1200" kern="1200" dirty="0">
                <a:solidFill>
                  <a:schemeClr val="tx1"/>
                </a:solidFill>
                <a:effectLst/>
                <a:latin typeface="+mn-lt"/>
                <a:ea typeface="+mn-ea"/>
                <a:cs typeface="+mn-cs"/>
              </a:rPr>
              <a:t> achieved the best performance on the base dataset while requiring significantly less training as compared to the stacking ensemble. While the Stacking Ensemble exhibited measurable robustness throughout five variant datasets, stacking did not outperform standalone </a:t>
            </a:r>
            <a:r>
              <a:rPr lang="en-GB" sz="1200" kern="1200" dirty="0" err="1">
                <a:solidFill>
                  <a:schemeClr val="tx1"/>
                </a:solidFill>
                <a:effectLst/>
                <a:latin typeface="+mn-lt"/>
                <a:ea typeface="+mn-ea"/>
                <a:cs typeface="+mn-cs"/>
              </a:rPr>
              <a:t>XGBoost</a:t>
            </a:r>
            <a:r>
              <a:rPr lang="en-GB" sz="1200" kern="1200" dirty="0">
                <a:solidFill>
                  <a:schemeClr val="tx1"/>
                </a:solidFill>
                <a:effectLst/>
                <a:latin typeface="+mn-lt"/>
                <a:ea typeface="+mn-ea"/>
                <a:cs typeface="+mn-cs"/>
              </a:rPr>
              <a:t>, and it incurred substantially higher computational overhead.</a:t>
            </a:r>
            <a:endParaRPr lang="en-US"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main takeaway of this research is that ensemble modelling offered strong capability of detection, but model complexity cannot inherently guarantee superior performance. Future research needs to focus on improving overall fraud recall, lowering computational latency prior to deploying such systems in live production environments, and refining ensemble architectures.</a:t>
            </a:r>
            <a:endParaRPr lang="en-US" sz="1200" kern="1200" dirty="0">
              <a:solidFill>
                <a:schemeClr val="tx1"/>
              </a:solidFill>
              <a:effectLst/>
              <a:latin typeface="+mn-lt"/>
              <a:ea typeface="+mn-ea"/>
              <a:cs typeface="+mn-cs"/>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08-Sep-26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08-Sep-26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08-Sep-26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08-Sep-26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08-Sep-26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08-Sep-26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08-Sep-26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9.sv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5.svg"/><Relationship Id="rId4" Type="http://schemas.openxmlformats.org/officeDocument/2006/relationships/image" Target="../media/image17.sv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179" b="-179"/>
              </a:stretch>
            </a:blipFill>
          </p:spPr>
        </p:sp>
      </p:grpSp>
      <p:sp>
        <p:nvSpPr>
          <p:cNvPr id="4" name="Freeform 4"/>
          <p:cNvSpPr/>
          <p:nvPr/>
        </p:nvSpPr>
        <p:spPr>
          <a:xfrm>
            <a:off x="0" y="1028700"/>
            <a:ext cx="6965061" cy="6947649"/>
          </a:xfrm>
          <a:custGeom>
            <a:avLst/>
            <a:gdLst/>
            <a:ahLst/>
            <a:cxnLst/>
            <a:rect l="l" t="t" r="r" b="b"/>
            <a:pathLst>
              <a:path w="6965061" h="6947649">
                <a:moveTo>
                  <a:pt x="0" y="0"/>
                </a:moveTo>
                <a:lnTo>
                  <a:pt x="6965061" y="0"/>
                </a:lnTo>
                <a:lnTo>
                  <a:pt x="6965061" y="6947649"/>
                </a:lnTo>
                <a:lnTo>
                  <a:pt x="0" y="6947649"/>
                </a:lnTo>
                <a:lnTo>
                  <a:pt x="0" y="0"/>
                </a:lnTo>
                <a:close/>
              </a:path>
            </a:pathLst>
          </a:custGeom>
          <a:blipFill>
            <a:blip>
              <a:extLst>
                <a:ext uri="{96DAC541-7B7A-43D3-8B79-37D633B846F1}">
                  <asvg:svgBlip xmlns:asvg="http://schemas.microsoft.com/office/drawing/2016/SVG/main" r:embed="rId3"/>
                </a:ext>
              </a:extLst>
            </a:blip>
            <a:stretch>
              <a:fillRect l="-11" r="-11"/>
            </a:stretch>
          </a:blipFill>
        </p:spPr>
      </p:sp>
      <p:sp>
        <p:nvSpPr>
          <p:cNvPr id="5" name="Freeform 5"/>
          <p:cNvSpPr/>
          <p:nvPr/>
        </p:nvSpPr>
        <p:spPr>
          <a:xfrm>
            <a:off x="1425130" y="24451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9891293" y="1095375"/>
            <a:ext cx="7896425" cy="3895725"/>
          </a:xfrm>
          <a:prstGeom prst="rect">
            <a:avLst/>
          </a:prstGeom>
        </p:spPr>
        <p:txBody>
          <a:bodyPr lIns="0" tIns="0" rIns="0" bIns="0" rtlCol="0" anchor="t">
            <a:spAutoFit/>
          </a:bodyPr>
          <a:lstStyle/>
          <a:p>
            <a:pPr algn="l">
              <a:lnSpc>
                <a:spcPts val="6000"/>
              </a:lnSpc>
            </a:pPr>
            <a:r>
              <a:rPr lang="en-US" sz="6000" b="1">
                <a:solidFill>
                  <a:srgbClr val="1E4664"/>
                </a:solidFill>
                <a:latin typeface="Times New Roman Bold"/>
                <a:ea typeface="Times New Roman Bold"/>
                <a:cs typeface="Times New Roman Bold"/>
                <a:sym typeface="Times New Roman Bold"/>
              </a:rPr>
              <a:t>Research Title: Building an ML-based Ensemble Model for Fraud Detection in Digital Banking Transactions</a:t>
            </a:r>
          </a:p>
        </p:txBody>
      </p:sp>
      <p:sp>
        <p:nvSpPr>
          <p:cNvPr id="7" name="Freeform 7"/>
          <p:cNvSpPr/>
          <p:nvPr/>
        </p:nvSpPr>
        <p:spPr>
          <a:xfrm flipH="1">
            <a:off x="11254207" y="9010164"/>
            <a:ext cx="7315200" cy="1276836"/>
          </a:xfrm>
          <a:custGeom>
            <a:avLst/>
            <a:gdLst/>
            <a:ahLst/>
            <a:cxnLst/>
            <a:rect l="l" t="t" r="r" b="b"/>
            <a:pathLst>
              <a:path w="7315200" h="1276836">
                <a:moveTo>
                  <a:pt x="7315200" y="0"/>
                </a:moveTo>
                <a:lnTo>
                  <a:pt x="0" y="0"/>
                </a:lnTo>
                <a:lnTo>
                  <a:pt x="0" y="1276836"/>
                </a:lnTo>
                <a:lnTo>
                  <a:pt x="7315200" y="1276836"/>
                </a:lnTo>
                <a:lnTo>
                  <a:pt x="7315200" y="0"/>
                </a:lnTo>
                <a:close/>
              </a:path>
            </a:pathLst>
          </a:custGeom>
          <a:blipFill>
            <a:blip>
              <a:extLst>
                <a:ext uri="{96DAC541-7B7A-43D3-8B79-37D633B846F1}">
                  <asvg:svgBlip xmlns:asvg="http://schemas.microsoft.com/office/drawing/2016/SVG/main" r:embed="rId5"/>
                </a:ext>
              </a:extLst>
            </a:blip>
            <a:stretch>
              <a:fillRect t="-354" b="-353"/>
            </a:stretch>
          </a:blipFill>
        </p:spPr>
      </p:sp>
      <p:sp>
        <p:nvSpPr>
          <p:cNvPr id="8" name="Freeform 8"/>
          <p:cNvSpPr/>
          <p:nvPr/>
        </p:nvSpPr>
        <p:spPr>
          <a:xfrm>
            <a:off x="-1322584" y="4973907"/>
            <a:ext cx="6019933" cy="6004884"/>
          </a:xfrm>
          <a:custGeom>
            <a:avLst/>
            <a:gdLst/>
            <a:ahLst/>
            <a:cxnLst/>
            <a:rect l="l" t="t" r="r" b="b"/>
            <a:pathLst>
              <a:path w="6019933" h="6004884">
                <a:moveTo>
                  <a:pt x="0" y="0"/>
                </a:moveTo>
                <a:lnTo>
                  <a:pt x="6019933" y="0"/>
                </a:lnTo>
                <a:lnTo>
                  <a:pt x="6019933" y="6004884"/>
                </a:lnTo>
                <a:lnTo>
                  <a:pt x="0" y="6004884"/>
                </a:lnTo>
                <a:lnTo>
                  <a:pt x="0" y="0"/>
                </a:lnTo>
                <a:close/>
              </a:path>
            </a:pathLst>
          </a:custGeom>
          <a:blipFill>
            <a:blip>
              <a:extLst>
                <a:ext uri="{96DAC541-7B7A-43D3-8B79-37D633B846F1}">
                  <asvg:svgBlip xmlns:asvg="http://schemas.microsoft.com/office/drawing/2016/SVG/main" r:embed="rId3"/>
                </a:ext>
              </a:extLst>
            </a:blip>
            <a:stretch>
              <a:fillRect l="-33" r="-33"/>
            </a:stretch>
          </a:blipFill>
        </p:spPr>
      </p:sp>
      <p:sp>
        <p:nvSpPr>
          <p:cNvPr id="9" name="Freeform 9"/>
          <p:cNvSpPr/>
          <p:nvPr/>
        </p:nvSpPr>
        <p:spPr>
          <a:xfrm>
            <a:off x="6745129" y="-1227372"/>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t="-35" b="-35"/>
            </a:stretch>
          </a:blipFill>
        </p:spPr>
      </p:sp>
      <p:sp>
        <p:nvSpPr>
          <p:cNvPr id="10" name="Freeform 10"/>
          <p:cNvSpPr/>
          <p:nvPr/>
        </p:nvSpPr>
        <p:spPr>
          <a:xfrm flipH="1" flipV="1">
            <a:off x="5870334" y="7200900"/>
            <a:ext cx="3461576" cy="4114800"/>
          </a:xfrm>
          <a:custGeom>
            <a:avLst/>
            <a:gdLst/>
            <a:ahLst/>
            <a:cxnLst/>
            <a:rect l="l" t="t" r="r" b="b"/>
            <a:pathLst>
              <a:path w="3461576" h="4114800">
                <a:moveTo>
                  <a:pt x="3461575" y="4114800"/>
                </a:moveTo>
                <a:lnTo>
                  <a:pt x="0" y="4114800"/>
                </a:lnTo>
                <a:lnTo>
                  <a:pt x="0" y="0"/>
                </a:lnTo>
                <a:lnTo>
                  <a:pt x="3461575" y="0"/>
                </a:lnTo>
                <a:lnTo>
                  <a:pt x="3461575" y="4114800"/>
                </a:lnTo>
                <a:close/>
              </a:path>
            </a:pathLst>
          </a:custGeom>
          <a:blipFill>
            <a:blip>
              <a:extLst>
                <a:ext uri="{96DAC541-7B7A-43D3-8B79-37D633B846F1}">
                  <asvg:svgBlip xmlns:asvg="http://schemas.microsoft.com/office/drawing/2016/SVG/main" r:embed="rId6"/>
                </a:ext>
              </a:extLst>
            </a:blip>
            <a:stretch>
              <a:fillRect t="-35" b="-35"/>
            </a:stretch>
          </a:blipFill>
        </p:spPr>
      </p:sp>
      <p:sp>
        <p:nvSpPr>
          <p:cNvPr id="11" name="TextBox 11"/>
          <p:cNvSpPr txBox="1"/>
          <p:nvPr/>
        </p:nvSpPr>
        <p:spPr>
          <a:xfrm>
            <a:off x="9331909" y="6146483"/>
            <a:ext cx="8415785" cy="2099310"/>
          </a:xfrm>
          <a:prstGeom prst="rect">
            <a:avLst/>
          </a:prstGeom>
        </p:spPr>
        <p:txBody>
          <a:bodyPr lIns="0" tIns="0" rIns="0" bIns="0" rtlCol="0" anchor="t">
            <a:spAutoFit/>
          </a:bodyPr>
          <a:lstStyle/>
          <a:p>
            <a:pPr algn="ctr">
              <a:lnSpc>
                <a:spcPts val="3900"/>
              </a:lnSpc>
            </a:pPr>
            <a:r>
              <a:rPr lang="en-US" sz="3900">
                <a:solidFill>
                  <a:srgbClr val="1E4664"/>
                </a:solidFill>
                <a:latin typeface="Times New Roman MT"/>
                <a:ea typeface="Times New Roman MT"/>
                <a:cs typeface="Times New Roman MT"/>
                <a:sym typeface="Times New Roman MT"/>
              </a:rPr>
              <a:t>MSc Computing Research Project</a:t>
            </a:r>
          </a:p>
          <a:p>
            <a:pPr algn="ctr">
              <a:lnSpc>
                <a:spcPts val="3900"/>
              </a:lnSpc>
            </a:pPr>
            <a:r>
              <a:rPr lang="en-US" sz="3900">
                <a:solidFill>
                  <a:srgbClr val="1E4664"/>
                </a:solidFill>
                <a:latin typeface="Times New Roman MT"/>
                <a:ea typeface="Times New Roman MT"/>
                <a:cs typeface="Times New Roman MT"/>
                <a:sym typeface="Times New Roman MT"/>
              </a:rPr>
              <a:t>Student: </a:t>
            </a:r>
          </a:p>
          <a:p>
            <a:pPr algn="ctr">
              <a:lnSpc>
                <a:spcPts val="3900"/>
              </a:lnSpc>
            </a:pPr>
            <a:r>
              <a:rPr lang="en-US" sz="3900">
                <a:solidFill>
                  <a:srgbClr val="1E4664"/>
                </a:solidFill>
                <a:latin typeface="Times New Roman MT"/>
                <a:ea typeface="Times New Roman MT"/>
                <a:cs typeface="Times New Roman MT"/>
                <a:sym typeface="Times New Roman MT"/>
              </a:rPr>
              <a:t> Supervisor: [Supervisor Name]</a:t>
            </a:r>
          </a:p>
          <a:p>
            <a:pPr algn="ctr">
              <a:lnSpc>
                <a:spcPts val="3900"/>
              </a:lnSpc>
            </a:pPr>
            <a:r>
              <a:rPr lang="en-US" sz="3900">
                <a:solidFill>
                  <a:srgbClr val="1E4664"/>
                </a:solidFill>
                <a:latin typeface="Times New Roman MT"/>
                <a:ea typeface="Times New Roman MT"/>
                <a:cs typeface="Times New Roman MT"/>
                <a:sym typeface="Times New Roman MT"/>
              </a:rPr>
              <a:t> University: Sheffield Hallam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4826424" y="-768048"/>
            <a:ext cx="3461576" cy="4114800"/>
          </a:xfrm>
          <a:custGeom>
            <a:avLst/>
            <a:gdLst/>
            <a:ahLst/>
            <a:cxnLst/>
            <a:rect l="l" t="t" r="r" b="b"/>
            <a:pathLst>
              <a:path w="3461576" h="4114800">
                <a:moveTo>
                  <a:pt x="0" y="0"/>
                </a:moveTo>
                <a:lnTo>
                  <a:pt x="3461576" y="0"/>
                </a:lnTo>
                <a:lnTo>
                  <a:pt x="3461576"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t="-35" b="-35"/>
            </a:stretch>
          </a:blipFill>
        </p:spPr>
      </p:sp>
      <p:sp>
        <p:nvSpPr>
          <p:cNvPr id="5" name="Freeform 5"/>
          <p:cNvSpPr/>
          <p:nvPr/>
        </p:nvSpPr>
        <p:spPr>
          <a:xfrm>
            <a:off x="14337697" y="5953125"/>
            <a:ext cx="3456432" cy="4114800"/>
          </a:xfrm>
          <a:custGeom>
            <a:avLst/>
            <a:gdLst/>
            <a:ahLst/>
            <a:cxnLst/>
            <a:rect l="l" t="t" r="r" b="b"/>
            <a:pathLst>
              <a:path w="3456432" h="4114800">
                <a:moveTo>
                  <a:pt x="0" y="0"/>
                </a:moveTo>
                <a:lnTo>
                  <a:pt x="3456432" y="0"/>
                </a:lnTo>
                <a:lnTo>
                  <a:pt x="345643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l="-154" r="-154"/>
            </a:stretch>
          </a:blipFill>
        </p:spPr>
      </p:sp>
      <p:sp>
        <p:nvSpPr>
          <p:cNvPr id="6" name="TextBox 6"/>
          <p:cNvSpPr txBox="1"/>
          <p:nvPr/>
        </p:nvSpPr>
        <p:spPr>
          <a:xfrm>
            <a:off x="2826649" y="852783"/>
            <a:ext cx="12634693"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Acknowledgements</a:t>
            </a:r>
          </a:p>
        </p:txBody>
      </p:sp>
      <p:sp>
        <p:nvSpPr>
          <p:cNvPr id="7" name="TextBox 7"/>
          <p:cNvSpPr txBox="1"/>
          <p:nvPr/>
        </p:nvSpPr>
        <p:spPr>
          <a:xfrm>
            <a:off x="1028700" y="2252472"/>
            <a:ext cx="15966319" cy="2891028"/>
          </a:xfrm>
          <a:prstGeom prst="rect">
            <a:avLst/>
          </a:prstGeom>
        </p:spPr>
        <p:txBody>
          <a:bodyPr lIns="0" tIns="0" rIns="0" bIns="0" rtlCol="0" anchor="t">
            <a:spAutoFit/>
          </a:bodyPr>
          <a:lstStyle/>
          <a:p>
            <a:pPr marL="731396" lvl="2" indent="-243799" algn="l">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 would like to thank my supervisor for the guidance, feedback and academic support provided throughout this project. </a:t>
            </a:r>
          </a:p>
          <a:p>
            <a:pPr marL="731396" lvl="2" indent="-243799" algn="l">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 also acknowledge Sheffield Hallam University for providing the academic resources and learning environment required to complete the research.</a:t>
            </a:r>
          </a:p>
        </p:txBody>
      </p:sp>
      <p:sp>
        <p:nvSpPr>
          <p:cNvPr id="8" name="TextBox 8"/>
          <p:cNvSpPr txBox="1"/>
          <p:nvPr/>
        </p:nvSpPr>
        <p:spPr>
          <a:xfrm>
            <a:off x="1007916" y="6877050"/>
            <a:ext cx="13252933" cy="2941434"/>
          </a:xfrm>
          <a:prstGeom prst="rect">
            <a:avLst/>
          </a:prstGeom>
        </p:spPr>
        <p:txBody>
          <a:bodyPr lIns="0" tIns="0" rIns="0" bIns="0" rtlCol="0" anchor="t">
            <a:spAutoFit/>
          </a:bodyPr>
          <a:lstStyle/>
          <a:p>
            <a:pPr marL="731396" lvl="2" indent="-243799" algn="l">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AI tools were used to support the preparation of this presentation, including language refinement and proofreading, while the research, analysis, implementation, results, and conclusions were independently developed by the student</a:t>
            </a:r>
          </a:p>
        </p:txBody>
      </p:sp>
      <p:sp>
        <p:nvSpPr>
          <p:cNvPr id="9" name="TextBox 9"/>
          <p:cNvSpPr txBox="1"/>
          <p:nvPr/>
        </p:nvSpPr>
        <p:spPr>
          <a:xfrm>
            <a:off x="2694518" y="5997464"/>
            <a:ext cx="12634693" cy="822531"/>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AI Declaration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4826424" y="-768048"/>
            <a:ext cx="3461576" cy="4114800"/>
          </a:xfrm>
          <a:custGeom>
            <a:avLst/>
            <a:gdLst/>
            <a:ahLst/>
            <a:cxnLst/>
            <a:rect l="l" t="t" r="r" b="b"/>
            <a:pathLst>
              <a:path w="3461576" h="4114800">
                <a:moveTo>
                  <a:pt x="0" y="0"/>
                </a:moveTo>
                <a:lnTo>
                  <a:pt x="3461576" y="0"/>
                </a:lnTo>
                <a:lnTo>
                  <a:pt x="3461576"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t="-35" b="-35"/>
            </a:stretch>
          </a:blipFill>
        </p:spPr>
      </p:sp>
      <p:sp>
        <p:nvSpPr>
          <p:cNvPr id="5" name="TextBox 5"/>
          <p:cNvSpPr txBox="1"/>
          <p:nvPr/>
        </p:nvSpPr>
        <p:spPr>
          <a:xfrm>
            <a:off x="1095861" y="1967570"/>
            <a:ext cx="15966319" cy="7415379"/>
          </a:xfrm>
          <a:prstGeom prst="rect">
            <a:avLst/>
          </a:prstGeom>
        </p:spPr>
        <p:txBody>
          <a:bodyPr lIns="0" tIns="0" rIns="0" bIns="0" rtlCol="0" anchor="t">
            <a:spAutoFit/>
          </a:bodyPr>
          <a:lstStyle/>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Introduction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Literature Review</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Methodology</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Ethics</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Implementation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Results</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Evaluation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Conclusion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References</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AI Declaration </a:t>
            </a:r>
          </a:p>
          <a:p>
            <a:pPr marL="731396" lvl="2" indent="-243799" algn="just">
              <a:lnSpc>
                <a:spcPts val="5374"/>
              </a:lnSpc>
            </a:pPr>
            <a:endParaRPr lang="en-US" sz="3198" b="1" spc="85">
              <a:solidFill>
                <a:srgbClr val="1E4664"/>
              </a:solidFill>
              <a:latin typeface="Times New Roman Bold"/>
              <a:ea typeface="Times New Roman Bold"/>
              <a:cs typeface="Times New Roman Bold"/>
              <a:sym typeface="Times New Roman Bold"/>
            </a:endParaRPr>
          </a:p>
        </p:txBody>
      </p:sp>
      <p:sp>
        <p:nvSpPr>
          <p:cNvPr id="6" name="Freeform 6"/>
          <p:cNvSpPr/>
          <p:nvPr/>
        </p:nvSpPr>
        <p:spPr>
          <a:xfrm>
            <a:off x="12421000" y="4528185"/>
            <a:ext cx="5264420" cy="5408647"/>
          </a:xfrm>
          <a:custGeom>
            <a:avLst/>
            <a:gdLst/>
            <a:ahLst/>
            <a:cxnLst/>
            <a:rect l="l" t="t" r="r" b="b"/>
            <a:pathLst>
              <a:path w="5264420" h="5408647">
                <a:moveTo>
                  <a:pt x="0" y="0"/>
                </a:moveTo>
                <a:lnTo>
                  <a:pt x="5264420" y="0"/>
                </a:lnTo>
                <a:lnTo>
                  <a:pt x="5264420" y="5408647"/>
                </a:lnTo>
                <a:lnTo>
                  <a:pt x="0" y="5408647"/>
                </a:lnTo>
                <a:lnTo>
                  <a:pt x="0" y="0"/>
                </a:lnTo>
                <a:close/>
              </a:path>
            </a:pathLst>
          </a:custGeom>
          <a:blipFill>
            <a:blip>
              <a:extLst>
                <a:ext uri="{96DAC541-7B7A-43D3-8B79-37D633B846F1}">
                  <asvg:svgBlip xmlns:asvg="http://schemas.microsoft.com/office/drawing/2016/SVG/main" r:embed="rId5"/>
                </a:ext>
              </a:extLst>
            </a:blip>
            <a:stretch>
              <a:fillRect l="-103" r="-103"/>
            </a:stretch>
          </a:blipFill>
        </p:spPr>
      </p:sp>
      <p:sp>
        <p:nvSpPr>
          <p:cNvPr id="7" name="TextBox 7"/>
          <p:cNvSpPr txBox="1"/>
          <p:nvPr/>
        </p:nvSpPr>
        <p:spPr>
          <a:xfrm>
            <a:off x="2826649" y="852783"/>
            <a:ext cx="12634693"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Agenda</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1346473" y="1777336"/>
            <a:ext cx="15595044" cy="7813672"/>
          </a:xfrm>
          <a:prstGeom prst="rect">
            <a:avLst/>
          </a:prstGeom>
        </p:spPr>
        <p:txBody>
          <a:bodyPr lIns="0" tIns="0" rIns="0" bIns="0" rtlCol="0" anchor="t">
            <a:spAutoFit/>
          </a:bodyPr>
          <a:lstStyle/>
          <a:p>
            <a:pPr algn="just">
              <a:lnSpc>
                <a:spcPts val="3424"/>
              </a:lnSpc>
            </a:pPr>
            <a:r>
              <a:rPr lang="en-US" sz="2499" b="1">
                <a:solidFill>
                  <a:srgbClr val="1E4664"/>
                </a:solidFill>
                <a:latin typeface="Times New Roman Bold"/>
                <a:ea typeface="Times New Roman Bold"/>
                <a:cs typeface="Times New Roman Bold"/>
                <a:sym typeface="Times New Roman Bold"/>
              </a:rPr>
              <a:t>Introduction </a:t>
            </a:r>
          </a:p>
          <a:p>
            <a:pPr algn="just">
              <a:lnSpc>
                <a:spcPts val="3424"/>
              </a:lnSpc>
            </a:pPr>
            <a:endParaRPr lang="en-US" sz="2499" b="1">
              <a:solidFill>
                <a:srgbClr val="1E4664"/>
              </a:solidFill>
              <a:latin typeface="Times New Roman Bold"/>
              <a:ea typeface="Times New Roman Bold"/>
              <a:cs typeface="Times New Roman Bold"/>
              <a:sym typeface="Times New Roman Bold"/>
            </a:endParaRPr>
          </a:p>
          <a:p>
            <a:pPr algn="just">
              <a:lnSpc>
                <a:spcPts val="3424"/>
              </a:lnSpc>
            </a:pPr>
            <a:r>
              <a:rPr lang="en-US" sz="2499">
                <a:solidFill>
                  <a:srgbClr val="1E4664"/>
                </a:solidFill>
                <a:latin typeface="Times New Roman MT"/>
                <a:ea typeface="Times New Roman MT"/>
                <a:cs typeface="Times New Roman MT"/>
                <a:sym typeface="Times New Roman MT"/>
              </a:rPr>
              <a:t>Digital banking has been responsible for growing transaction volumes, but it's also made bank fraud more complex. Traditional rule-based and single model techniques can fall short when it comes to non-linear and evolving fraud patterns, and false positives can lead to customer friction (Manzoor &amp; Aslam, 2025; Naeem, Butt &amp; Javeid, 2026) .</a:t>
            </a:r>
          </a:p>
          <a:p>
            <a:pPr algn="just">
              <a:lnSpc>
                <a:spcPts val="3424"/>
              </a:lnSpc>
            </a:pPr>
            <a:endParaRPr lang="en-US" sz="2499">
              <a:solidFill>
                <a:srgbClr val="1E4664"/>
              </a:solidFill>
              <a:latin typeface="Times New Roman MT"/>
              <a:ea typeface="Times New Roman MT"/>
              <a:cs typeface="Times New Roman MT"/>
              <a:sym typeface="Times New Roman MT"/>
            </a:endParaRPr>
          </a:p>
          <a:p>
            <a:pPr algn="just">
              <a:lnSpc>
                <a:spcPts val="3424"/>
              </a:lnSpc>
            </a:pPr>
            <a:r>
              <a:rPr lang="en-US" sz="2499" b="1">
                <a:solidFill>
                  <a:srgbClr val="1E4664"/>
                </a:solidFill>
                <a:latin typeface="Times New Roman Bold"/>
                <a:ea typeface="Times New Roman Bold"/>
                <a:cs typeface="Times New Roman Bold"/>
                <a:sym typeface="Times New Roman Bold"/>
              </a:rPr>
              <a:t>Research Aim</a:t>
            </a:r>
          </a:p>
          <a:p>
            <a:pPr marL="571379" lvl="2" indent="-190460" algn="just">
              <a:lnSpc>
                <a:spcPts val="3424"/>
              </a:lnSpc>
              <a:buFont typeface="Arial"/>
              <a:buChar char="⚬"/>
            </a:pPr>
            <a:r>
              <a:rPr lang="en-US" sz="2499">
                <a:solidFill>
                  <a:srgbClr val="1E4664"/>
                </a:solidFill>
                <a:latin typeface="Times New Roman MT"/>
                <a:ea typeface="Times New Roman MT"/>
                <a:cs typeface="Times New Roman MT"/>
                <a:sym typeface="Times New Roman MT"/>
              </a:rPr>
              <a:t>To develop, assess, and implement a machine learning-based ensemble model that maximises fraud-detection precision and minimises false positives across high-velocity, diverse transactions in digital banking.</a:t>
            </a:r>
          </a:p>
          <a:p>
            <a:pPr marL="571379" lvl="2" indent="-190460" algn="just">
              <a:lnSpc>
                <a:spcPts val="3424"/>
              </a:lnSpc>
            </a:pPr>
            <a:r>
              <a:rPr lang="en-US" sz="2499" b="1">
                <a:solidFill>
                  <a:srgbClr val="1E4664"/>
                </a:solidFill>
                <a:latin typeface="Times New Roman Bold"/>
                <a:ea typeface="Times New Roman Bold"/>
                <a:cs typeface="Times New Roman Bold"/>
                <a:sym typeface="Times New Roman Bold"/>
              </a:rPr>
              <a:t>Research Objectives</a:t>
            </a:r>
          </a:p>
          <a:p>
            <a:pPr marL="571379" lvl="2" indent="-190460" algn="just">
              <a:lnSpc>
                <a:spcPts val="3424"/>
              </a:lnSpc>
              <a:buFont typeface="Arial"/>
              <a:buChar char="⚬"/>
            </a:pPr>
            <a:r>
              <a:rPr lang="en-US" sz="2499">
                <a:solidFill>
                  <a:srgbClr val="1E4664"/>
                </a:solidFill>
                <a:latin typeface="Times New Roman MT"/>
                <a:ea typeface="Times New Roman MT"/>
                <a:cs typeface="Times New Roman MT"/>
                <a:sym typeface="Times New Roman MT"/>
              </a:rPr>
              <a:t>To thoroughly analyse and pre-process high-velocity transaction datasets in digital banking for addressing challenges such as missing data and severe class imbalance.</a:t>
            </a:r>
          </a:p>
          <a:p>
            <a:pPr marL="571379" lvl="2" indent="-190460" algn="just">
              <a:lnSpc>
                <a:spcPts val="3424"/>
              </a:lnSpc>
              <a:buFont typeface="Arial"/>
              <a:buChar char="⚬"/>
            </a:pPr>
            <a:r>
              <a:rPr lang="en-US" sz="2499">
                <a:solidFill>
                  <a:srgbClr val="1E4664"/>
                </a:solidFill>
                <a:latin typeface="Times New Roman MT"/>
                <a:ea typeface="Times New Roman MT"/>
                <a:cs typeface="Times New Roman MT"/>
                <a:sym typeface="Times New Roman MT"/>
              </a:rPr>
              <a:t>To design a machine learning-based ensemble framework by combining diverse base learners for improving predictive performance.</a:t>
            </a:r>
          </a:p>
          <a:p>
            <a:pPr marL="571379" lvl="2" indent="-190460" algn="just">
              <a:lnSpc>
                <a:spcPts val="3424"/>
              </a:lnSpc>
              <a:buFont typeface="Arial"/>
              <a:buChar char="⚬"/>
            </a:pPr>
            <a:r>
              <a:rPr lang="en-US" sz="2499">
                <a:solidFill>
                  <a:srgbClr val="1E4664"/>
                </a:solidFill>
                <a:latin typeface="Times New Roman MT"/>
                <a:ea typeface="Times New Roman MT"/>
                <a:cs typeface="Times New Roman MT"/>
                <a:sym typeface="Times New Roman MT"/>
              </a:rPr>
              <a:t>To optimise the parameters of the model and dynamic stacking mechanisms for balancing high precision of fraud detection with low rates of false positives.</a:t>
            </a:r>
          </a:p>
          <a:p>
            <a:pPr marL="571379" lvl="2" indent="-190460" algn="just">
              <a:lnSpc>
                <a:spcPts val="3424"/>
              </a:lnSpc>
              <a:buFont typeface="Arial"/>
              <a:buChar char="⚬"/>
            </a:pPr>
            <a:r>
              <a:rPr lang="en-US" sz="2499">
                <a:solidFill>
                  <a:srgbClr val="1E4664"/>
                </a:solidFill>
                <a:latin typeface="Times New Roman MT"/>
                <a:ea typeface="Times New Roman MT"/>
                <a:cs typeface="Times New Roman MT"/>
                <a:sym typeface="Times New Roman MT"/>
              </a:rPr>
              <a:t>To assess and validate the performance of the ensemble model against the individual baseline algorithms by using metrics such as the F1 score, AUC-ROC, and computational latency.</a:t>
            </a:r>
          </a:p>
        </p:txBody>
      </p:sp>
      <p:sp>
        <p:nvSpPr>
          <p:cNvPr id="5" name="Freeform 5"/>
          <p:cNvSpPr/>
          <p:nvPr/>
        </p:nvSpPr>
        <p:spPr>
          <a:xfrm flipH="1" flipV="1">
            <a:off x="-1730788" y="-862651"/>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a:extLst>
                <a:ext uri="{96DAC541-7B7A-43D3-8B79-37D633B846F1}">
                  <asvg:svgBlip xmlns:asvg="http://schemas.microsoft.com/office/drawing/2016/SVG/main" r:embed="rId4"/>
                </a:ext>
              </a:extLst>
            </a:blip>
            <a:stretch>
              <a:fillRect t="-35" b="-35"/>
            </a:stretch>
          </a:blipFill>
        </p:spPr>
      </p:sp>
      <p:sp>
        <p:nvSpPr>
          <p:cNvPr id="6" name="Freeform 6"/>
          <p:cNvSpPr/>
          <p:nvPr/>
        </p:nvSpPr>
        <p:spPr>
          <a:xfrm>
            <a:off x="16203597" y="6803584"/>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t="-35" b="-35"/>
            </a:stretch>
          </a:blipFill>
        </p:spPr>
      </p:sp>
      <p:sp>
        <p:nvSpPr>
          <p:cNvPr id="7" name="TextBox 7"/>
          <p:cNvSpPr txBox="1"/>
          <p:nvPr/>
        </p:nvSpPr>
        <p:spPr>
          <a:xfrm>
            <a:off x="4679061" y="638175"/>
            <a:ext cx="8929888" cy="847725"/>
          </a:xfrm>
          <a:prstGeom prst="rect">
            <a:avLst/>
          </a:prstGeom>
        </p:spPr>
        <p:txBody>
          <a:bodyPr lIns="0" tIns="0" rIns="0" bIns="0" rtlCol="0" anchor="t">
            <a:spAutoFit/>
          </a:bodyPr>
          <a:lstStyle/>
          <a:p>
            <a:pPr algn="ctr">
              <a:lnSpc>
                <a:spcPts val="6000"/>
              </a:lnSpc>
            </a:pPr>
            <a:r>
              <a:rPr lang="en-US" sz="6000" b="1">
                <a:solidFill>
                  <a:srgbClr val="1E4664"/>
                </a:solidFill>
                <a:latin typeface="Times New Roman Bold"/>
                <a:ea typeface="Times New Roman Bold"/>
                <a:cs typeface="Times New Roman Bold"/>
                <a:sym typeface="Times New Roman Bold"/>
              </a:rPr>
              <a:t>Research Aim and objectives</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1237040" y="914400"/>
            <a:ext cx="10899515" cy="8559279"/>
          </a:xfrm>
          <a:prstGeom prst="rect">
            <a:avLst/>
          </a:prstGeom>
        </p:spPr>
        <p:txBody>
          <a:bodyPr lIns="0" tIns="0" rIns="0" bIns="0" rtlCol="0" anchor="t">
            <a:spAutoFit/>
          </a:bodyPr>
          <a:lstStyle/>
          <a:p>
            <a:pPr algn="just">
              <a:lnSpc>
                <a:spcPts val="4957"/>
              </a:lnSpc>
            </a:pPr>
            <a:r>
              <a:rPr lang="en-US" sz="1983">
                <a:solidFill>
                  <a:srgbClr val="1E4664"/>
                </a:solidFill>
                <a:latin typeface="Times New Roman MT"/>
                <a:ea typeface="Times New Roman MT"/>
                <a:cs typeface="Times New Roman MT"/>
                <a:sym typeface="Times New Roman MT"/>
              </a:rPr>
              <a:t>The literature reveals that: As the literature indicates:</a:t>
            </a:r>
          </a:p>
          <a:p>
            <a:pPr marL="453417" lvl="2" indent="-151139" algn="just">
              <a:lnSpc>
                <a:spcPts val="4957"/>
              </a:lnSpc>
              <a:buFont typeface="Arial"/>
              <a:buChar char="⚬"/>
            </a:pPr>
            <a:r>
              <a:rPr lang="en-US" sz="1983">
                <a:solidFill>
                  <a:srgbClr val="1E4664"/>
                </a:solidFill>
                <a:latin typeface="Times New Roman MT"/>
                <a:ea typeface="Times New Roman MT"/>
                <a:cs typeface="Times New Roman MT"/>
                <a:sym typeface="Times New Roman MT"/>
              </a:rPr>
              <a:t>Class imbalance, false positives, model selection and computational efficiency were identified as key issues in digital banking fraud detection, according to research.</a:t>
            </a:r>
          </a:p>
          <a:p>
            <a:pPr marL="476274" lvl="2" indent="-158758" algn="just">
              <a:lnSpc>
                <a:spcPts val="5207"/>
              </a:lnSpc>
              <a:buFont typeface="Arial"/>
              <a:buChar char="⚬"/>
            </a:pPr>
            <a:r>
              <a:rPr lang="en-US" sz="2082">
                <a:solidFill>
                  <a:srgbClr val="1E4664"/>
                </a:solidFill>
                <a:latin typeface="Times New Roman MT"/>
                <a:ea typeface="Times New Roman MT"/>
                <a:cs typeface="Times New Roman MT"/>
                <a:sym typeface="Times New Roman MT"/>
              </a:rPr>
              <a:t>SMOTE and feature engineering have been extensively explored solutions for dealing with imbalanced data, with ensemble methods harnessing the strengths of multiple classifiers(George et al., 2025; Guterres et al., 2026; Rajasekar et al., 2026). Deep-learning methods can achieve good predictive performance; however, at significantly higher computational costs.</a:t>
            </a:r>
          </a:p>
          <a:p>
            <a:pPr marL="453409" lvl="2" indent="-151136" algn="just">
              <a:lnSpc>
                <a:spcPts val="4957"/>
              </a:lnSpc>
            </a:pPr>
            <a:r>
              <a:rPr lang="en-US" sz="1983" b="1">
                <a:solidFill>
                  <a:srgbClr val="1E4664"/>
                </a:solidFill>
                <a:latin typeface="Times New Roman Bold"/>
                <a:ea typeface="Times New Roman Bold"/>
                <a:cs typeface="Times New Roman Bold"/>
                <a:sym typeface="Times New Roman Bold"/>
              </a:rPr>
              <a:t>Research Gap</a:t>
            </a:r>
          </a:p>
          <a:p>
            <a:pPr marL="453417" lvl="2" indent="-151139" algn="just">
              <a:lnSpc>
                <a:spcPts val="4957"/>
              </a:lnSpc>
              <a:buFont typeface="Arial"/>
              <a:buChar char="⚬"/>
            </a:pPr>
            <a:r>
              <a:rPr lang="en-US" sz="1983">
                <a:solidFill>
                  <a:srgbClr val="1E4664"/>
                </a:solidFill>
                <a:latin typeface="Times New Roman MT"/>
                <a:ea typeface="Times New Roman MT"/>
                <a:cs typeface="Times New Roman MT"/>
                <a:sym typeface="Times New Roman MT"/>
              </a:rPr>
              <a:t>Some important balance between recalling fraud and reducing the false-positive rate, computational efficiency and robustness to changes in data conditions is still difficult to achieve in the existing research.</a:t>
            </a:r>
          </a:p>
          <a:p>
            <a:pPr marL="453417" lvl="2" indent="-151139" algn="just">
              <a:lnSpc>
                <a:spcPts val="4957"/>
              </a:lnSpc>
            </a:pPr>
            <a:endParaRPr lang="en-US" sz="1983">
              <a:solidFill>
                <a:srgbClr val="1E4664"/>
              </a:solidFill>
              <a:latin typeface="Times New Roman MT"/>
              <a:ea typeface="Times New Roman MT"/>
              <a:cs typeface="Times New Roman MT"/>
              <a:sym typeface="Times New Roman MT"/>
            </a:endParaRPr>
          </a:p>
        </p:txBody>
      </p:sp>
      <p:sp>
        <p:nvSpPr>
          <p:cNvPr id="5" name="Freeform 5"/>
          <p:cNvSpPr/>
          <p:nvPr/>
        </p:nvSpPr>
        <p:spPr>
          <a:xfrm flipH="1" flipV="1">
            <a:off x="-1730788" y="-862651"/>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a:extLst>
                <a:ext uri="{96DAC541-7B7A-43D3-8B79-37D633B846F1}">
                  <asvg:svgBlip xmlns:asvg="http://schemas.microsoft.com/office/drawing/2016/SVG/main" r:embed="rId4"/>
                </a:ext>
              </a:extLst>
            </a:blip>
            <a:stretch>
              <a:fillRect t="-35" b="-35"/>
            </a:stretch>
          </a:blipFill>
        </p:spPr>
      </p:sp>
      <p:sp>
        <p:nvSpPr>
          <p:cNvPr id="6" name="Freeform 6"/>
          <p:cNvSpPr/>
          <p:nvPr/>
        </p:nvSpPr>
        <p:spPr>
          <a:xfrm>
            <a:off x="16203597" y="6803584"/>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t="-35" b="-35"/>
            </a:stretch>
          </a:blipFill>
        </p:spPr>
      </p:sp>
      <p:grpSp>
        <p:nvGrpSpPr>
          <p:cNvPr id="7" name="Group 7"/>
          <p:cNvGrpSpPr/>
          <p:nvPr/>
        </p:nvGrpSpPr>
        <p:grpSpPr>
          <a:xfrm>
            <a:off x="13598109" y="2836135"/>
            <a:ext cx="3221831" cy="3157395"/>
            <a:chOff x="0" y="0"/>
            <a:chExt cx="4295775" cy="4209860"/>
          </a:xfrm>
        </p:grpSpPr>
        <p:sp>
          <p:nvSpPr>
            <p:cNvPr id="8" name="Freeform 8"/>
            <p:cNvSpPr/>
            <p:nvPr/>
          </p:nvSpPr>
          <p:spPr>
            <a:xfrm>
              <a:off x="0" y="0"/>
              <a:ext cx="4295775" cy="4209923"/>
            </a:xfrm>
            <a:custGeom>
              <a:avLst/>
              <a:gdLst/>
              <a:ahLst/>
              <a:cxnLst/>
              <a:rect l="l" t="t" r="r" b="b"/>
              <a:pathLst>
                <a:path w="4295775" h="4209923">
                  <a:moveTo>
                    <a:pt x="0" y="0"/>
                  </a:moveTo>
                  <a:lnTo>
                    <a:pt x="4295775" y="0"/>
                  </a:lnTo>
                  <a:lnTo>
                    <a:pt x="4295775" y="4209923"/>
                  </a:lnTo>
                  <a:lnTo>
                    <a:pt x="0" y="4209923"/>
                  </a:lnTo>
                  <a:lnTo>
                    <a:pt x="0" y="0"/>
                  </a:lnTo>
                  <a:close/>
                </a:path>
              </a:pathLst>
            </a:custGeom>
            <a:blipFill>
              <a:blip r:embed="rId5"/>
              <a:stretch>
                <a:fillRect t="-278" b="-277"/>
              </a:stretch>
            </a:blipFill>
          </p:spPr>
        </p:sp>
      </p:grpSp>
      <p:sp>
        <p:nvSpPr>
          <p:cNvPr id="9" name="TextBox 9"/>
          <p:cNvSpPr txBox="1"/>
          <p:nvPr/>
        </p:nvSpPr>
        <p:spPr>
          <a:xfrm>
            <a:off x="6343574" y="638175"/>
            <a:ext cx="5600852" cy="847725"/>
          </a:xfrm>
          <a:prstGeom prst="rect">
            <a:avLst/>
          </a:prstGeom>
        </p:spPr>
        <p:txBody>
          <a:bodyPr lIns="0" tIns="0" rIns="0" bIns="0" rtlCol="0" anchor="t">
            <a:spAutoFit/>
          </a:bodyPr>
          <a:lstStyle/>
          <a:p>
            <a:pPr algn="ctr">
              <a:lnSpc>
                <a:spcPts val="6000"/>
              </a:lnSpc>
            </a:pPr>
            <a:r>
              <a:rPr lang="en-US" sz="6000" b="1">
                <a:solidFill>
                  <a:srgbClr val="1E4664"/>
                </a:solidFill>
                <a:latin typeface="Times New Roman Bold"/>
                <a:ea typeface="Times New Roman Bold"/>
                <a:cs typeface="Times New Roman Bold"/>
                <a:sym typeface="Times New Roman Bold"/>
              </a:rPr>
              <a:t>Literature Review</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966311" y="5468074"/>
            <a:ext cx="6664033" cy="6647374"/>
          </a:xfrm>
          <a:custGeom>
            <a:avLst/>
            <a:gdLst/>
            <a:ahLst/>
            <a:cxnLst/>
            <a:rect l="l" t="t" r="r" b="b"/>
            <a:pathLst>
              <a:path w="6664033" h="6647374">
                <a:moveTo>
                  <a:pt x="0" y="0"/>
                </a:moveTo>
                <a:lnTo>
                  <a:pt x="6664033" y="0"/>
                </a:lnTo>
                <a:lnTo>
                  <a:pt x="6664033" y="6647374"/>
                </a:lnTo>
                <a:lnTo>
                  <a:pt x="0" y="6647374"/>
                </a:lnTo>
                <a:lnTo>
                  <a:pt x="0" y="0"/>
                </a:lnTo>
                <a:close/>
              </a:path>
            </a:pathLst>
          </a:custGeom>
          <a:blipFill>
            <a:blip>
              <a:extLst>
                <a:ext uri="{96DAC541-7B7A-43D3-8B79-37D633B846F1}">
                  <asvg:svgBlip xmlns:asvg="http://schemas.microsoft.com/office/drawing/2016/SVG/main" r:embed="rId4"/>
                </a:ext>
              </a:extLst>
            </a:blip>
            <a:stretch>
              <a:fillRect l="-17" r="-18"/>
            </a:stretch>
          </a:blipFill>
        </p:spPr>
      </p:sp>
      <p:sp>
        <p:nvSpPr>
          <p:cNvPr id="5" name="Freeform 5"/>
          <p:cNvSpPr/>
          <p:nvPr/>
        </p:nvSpPr>
        <p:spPr>
          <a:xfrm>
            <a:off x="2817057" y="6194698"/>
            <a:ext cx="4195248" cy="3964505"/>
          </a:xfrm>
          <a:custGeom>
            <a:avLst/>
            <a:gdLst/>
            <a:ahLst/>
            <a:cxnLst/>
            <a:rect l="l" t="t" r="r" b="b"/>
            <a:pathLst>
              <a:path w="4195248" h="3964505">
                <a:moveTo>
                  <a:pt x="0" y="0"/>
                </a:moveTo>
                <a:lnTo>
                  <a:pt x="4195248" y="0"/>
                </a:lnTo>
                <a:lnTo>
                  <a:pt x="4195248" y="3964505"/>
                </a:lnTo>
                <a:lnTo>
                  <a:pt x="0" y="3964505"/>
                </a:lnTo>
                <a:lnTo>
                  <a:pt x="0" y="0"/>
                </a:lnTo>
                <a:close/>
              </a:path>
            </a:pathLst>
          </a:custGeom>
          <a:blipFill>
            <a:blip>
              <a:extLst>
                <a:ext uri="{96DAC541-7B7A-43D3-8B79-37D633B846F1}">
                  <asvg:svgBlip xmlns:asvg="http://schemas.microsoft.com/office/drawing/2016/SVG/main" r:embed="rId5"/>
                </a:ext>
              </a:extLst>
            </a:blip>
            <a:stretch>
              <a:fillRect t="-30" b="-30"/>
            </a:stretch>
          </a:blipFill>
        </p:spPr>
      </p:sp>
      <p:sp>
        <p:nvSpPr>
          <p:cNvPr id="6" name="Freeform 6"/>
          <p:cNvSpPr/>
          <p:nvPr/>
        </p:nvSpPr>
        <p:spPr>
          <a:xfrm>
            <a:off x="315144" y="4191238"/>
            <a:ext cx="7315200" cy="1276836"/>
          </a:xfrm>
          <a:custGeom>
            <a:avLst/>
            <a:gdLst/>
            <a:ahLst/>
            <a:cxnLst/>
            <a:rect l="l" t="t" r="r" b="b"/>
            <a:pathLst>
              <a:path w="7315200" h="1276836">
                <a:moveTo>
                  <a:pt x="0" y="0"/>
                </a:moveTo>
                <a:lnTo>
                  <a:pt x="7315200" y="0"/>
                </a:lnTo>
                <a:lnTo>
                  <a:pt x="7315200" y="1276836"/>
                </a:lnTo>
                <a:lnTo>
                  <a:pt x="0" y="1276836"/>
                </a:lnTo>
                <a:lnTo>
                  <a:pt x="0" y="0"/>
                </a:lnTo>
                <a:close/>
              </a:path>
            </a:pathLst>
          </a:custGeom>
          <a:blipFill>
            <a:blip>
              <a:extLst>
                <a:ext uri="{96DAC541-7B7A-43D3-8B79-37D633B846F1}">
                  <asvg:svgBlip xmlns:asvg="http://schemas.microsoft.com/office/drawing/2016/SVG/main" r:embed="rId6"/>
                </a:ext>
              </a:extLst>
            </a:blip>
            <a:stretch>
              <a:fillRect t="-354" b="-353"/>
            </a:stretch>
          </a:blipFill>
        </p:spPr>
      </p:sp>
      <p:sp>
        <p:nvSpPr>
          <p:cNvPr id="7" name="TextBox 7"/>
          <p:cNvSpPr txBox="1"/>
          <p:nvPr/>
        </p:nvSpPr>
        <p:spPr>
          <a:xfrm>
            <a:off x="7928239" y="741150"/>
            <a:ext cx="9905600" cy="9369428"/>
          </a:xfrm>
          <a:prstGeom prst="rect">
            <a:avLst/>
          </a:prstGeom>
        </p:spPr>
        <p:txBody>
          <a:bodyPr lIns="0" tIns="0" rIns="0" bIns="0" rtlCol="0" anchor="t">
            <a:spAutoFit/>
          </a:bodyPr>
          <a:lstStyle/>
          <a:p>
            <a:pPr algn="l">
              <a:lnSpc>
                <a:spcPts val="4823"/>
              </a:lnSpc>
            </a:pPr>
            <a:r>
              <a:rPr lang="en-US" sz="2499">
                <a:solidFill>
                  <a:srgbClr val="1E4664"/>
                </a:solidFill>
                <a:latin typeface="Times New Roman MT"/>
                <a:ea typeface="Times New Roman MT"/>
                <a:cs typeface="Times New Roman MT"/>
                <a:sym typeface="Times New Roman MT"/>
              </a:rPr>
              <a:t>The approach undertaken in the project was a quantitative and computational approach that was based on secondary data.</a:t>
            </a:r>
          </a:p>
          <a:p>
            <a:pPr algn="l">
              <a:lnSpc>
                <a:spcPts val="4823"/>
              </a:lnSpc>
            </a:pPr>
            <a:r>
              <a:rPr lang="en-US" sz="2499" b="1">
                <a:solidFill>
                  <a:srgbClr val="1E4664"/>
                </a:solidFill>
                <a:latin typeface="Times New Roman Bold"/>
                <a:ea typeface="Times New Roman Bold"/>
                <a:cs typeface="Times New Roman Bold"/>
                <a:sym typeface="Times New Roman Bold"/>
              </a:rPr>
              <a:t>Dataset</a:t>
            </a:r>
          </a:p>
          <a:p>
            <a:pPr algn="l">
              <a:lnSpc>
                <a:spcPts val="4823"/>
              </a:lnSpc>
            </a:pPr>
            <a:r>
              <a:rPr lang="en-US" sz="2499">
                <a:solidFill>
                  <a:srgbClr val="1E4664"/>
                </a:solidFill>
                <a:latin typeface="Times New Roman MT"/>
                <a:ea typeface="Times New Roman MT"/>
                <a:cs typeface="Times New Roman MT"/>
                <a:sym typeface="Times New Roman MT"/>
              </a:rPr>
              <a:t>The Bank Account Fraud Dataset for NeurIPS 2022.</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Nearly 1 million anonymised records</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30 features</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Severe class imbalance</a:t>
            </a:r>
          </a:p>
          <a:p>
            <a:pPr marL="571379" lvl="2" indent="-190460" algn="l">
              <a:lnSpc>
                <a:spcPts val="4823"/>
              </a:lnSpc>
            </a:pPr>
            <a:r>
              <a:rPr lang="en-US" sz="2499" b="1">
                <a:solidFill>
                  <a:srgbClr val="1E4664"/>
                </a:solidFill>
                <a:latin typeface="Times New Roman Bold"/>
                <a:ea typeface="Times New Roman Bold"/>
                <a:cs typeface="Times New Roman Bold"/>
                <a:sym typeface="Times New Roman Bold"/>
              </a:rPr>
              <a:t>Process</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Data, pre-processing, 70/30 Stratified Split, SMOTE, Model Training, Ensemble, Evaluation</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To prevent data leakage, SMOTE was only used on the train set.</a:t>
            </a:r>
          </a:p>
          <a:p>
            <a:pPr marL="571379" lvl="2" indent="-190460" algn="l">
              <a:lnSpc>
                <a:spcPts val="4823"/>
              </a:lnSpc>
            </a:pPr>
            <a:r>
              <a:rPr lang="en-US" sz="2499" b="1">
                <a:solidFill>
                  <a:srgbClr val="1E4664"/>
                </a:solidFill>
                <a:latin typeface="Times New Roman Bold"/>
                <a:ea typeface="Times New Roman Bold"/>
                <a:cs typeface="Times New Roman Bold"/>
                <a:sym typeface="Times New Roman Bold"/>
              </a:rPr>
              <a:t>Evaluation</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Precision, Recall, F1-score, AUC-ROC, False Positive Rate and computational latency were used to assess performance.</a:t>
            </a:r>
          </a:p>
          <a:p>
            <a:pPr marL="571379" lvl="2" indent="-190460" algn="l">
              <a:lnSpc>
                <a:spcPts val="4823"/>
              </a:lnSpc>
            </a:pPr>
            <a:endParaRPr lang="en-US" sz="2499">
              <a:solidFill>
                <a:srgbClr val="1E4664"/>
              </a:solidFill>
              <a:latin typeface="Times New Roman MT"/>
              <a:ea typeface="Times New Roman MT"/>
              <a:cs typeface="Times New Roman MT"/>
              <a:sym typeface="Times New Roman MT"/>
            </a:endParaRPr>
          </a:p>
        </p:txBody>
      </p:sp>
      <p:sp>
        <p:nvSpPr>
          <p:cNvPr id="8" name="Freeform 8"/>
          <p:cNvSpPr/>
          <p:nvPr/>
        </p:nvSpPr>
        <p:spPr>
          <a:xfrm>
            <a:off x="1074201" y="134722"/>
            <a:ext cx="3840480" cy="4114800"/>
          </a:xfrm>
          <a:custGeom>
            <a:avLst/>
            <a:gdLst/>
            <a:ahLst/>
            <a:cxnLst/>
            <a:rect l="l" t="t" r="r" b="b"/>
            <a:pathLst>
              <a:path w="3840480" h="4114800">
                <a:moveTo>
                  <a:pt x="0" y="0"/>
                </a:moveTo>
                <a:lnTo>
                  <a:pt x="3840480" y="0"/>
                </a:lnTo>
                <a:lnTo>
                  <a:pt x="384048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l="-347" r="-347"/>
            </a:stretch>
          </a:blipFill>
        </p:spPr>
      </p:sp>
      <p:sp>
        <p:nvSpPr>
          <p:cNvPr id="9" name="TextBox 9"/>
          <p:cNvSpPr txBox="1"/>
          <p:nvPr/>
        </p:nvSpPr>
        <p:spPr>
          <a:xfrm>
            <a:off x="694954" y="229972"/>
            <a:ext cx="12634693"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Methodology</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2288210" y="855393"/>
            <a:ext cx="13711571"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Ethics</a:t>
            </a:r>
          </a:p>
        </p:txBody>
      </p:sp>
      <p:sp>
        <p:nvSpPr>
          <p:cNvPr id="5" name="Freeform 5"/>
          <p:cNvSpPr/>
          <p:nvPr/>
        </p:nvSpPr>
        <p:spPr>
          <a:xfrm flipH="1" flipV="1">
            <a:off x="-479708" y="-70829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a:extLst>
                <a:ext uri="{96DAC541-7B7A-43D3-8B79-37D633B846F1}">
                  <asvg:svgBlip xmlns:asvg="http://schemas.microsoft.com/office/drawing/2016/SVG/main" r:embed="rId4"/>
                </a:ext>
              </a:extLst>
            </a:blip>
            <a:stretch>
              <a:fillRect t="-35" b="-35"/>
            </a:stretch>
          </a:blipFill>
        </p:spPr>
      </p:sp>
      <p:grpSp>
        <p:nvGrpSpPr>
          <p:cNvPr id="6" name="Group 6"/>
          <p:cNvGrpSpPr/>
          <p:nvPr/>
        </p:nvGrpSpPr>
        <p:grpSpPr>
          <a:xfrm>
            <a:off x="12775149" y="5834596"/>
            <a:ext cx="4079843" cy="3998252"/>
            <a:chOff x="0" y="0"/>
            <a:chExt cx="5439791" cy="5331003"/>
          </a:xfrm>
        </p:grpSpPr>
        <p:sp>
          <p:nvSpPr>
            <p:cNvPr id="7" name="Freeform 7"/>
            <p:cNvSpPr/>
            <p:nvPr/>
          </p:nvSpPr>
          <p:spPr>
            <a:xfrm>
              <a:off x="0" y="0"/>
              <a:ext cx="5439791" cy="5330952"/>
            </a:xfrm>
            <a:custGeom>
              <a:avLst/>
              <a:gdLst/>
              <a:ahLst/>
              <a:cxnLst/>
              <a:rect l="l" t="t" r="r" b="b"/>
              <a:pathLst>
                <a:path w="5439791" h="5330952">
                  <a:moveTo>
                    <a:pt x="0" y="0"/>
                  </a:moveTo>
                  <a:lnTo>
                    <a:pt x="5439791" y="0"/>
                  </a:lnTo>
                  <a:lnTo>
                    <a:pt x="5439791" y="5330952"/>
                  </a:lnTo>
                  <a:lnTo>
                    <a:pt x="0" y="5330952"/>
                  </a:lnTo>
                  <a:lnTo>
                    <a:pt x="0" y="0"/>
                  </a:lnTo>
                  <a:close/>
                </a:path>
              </a:pathLst>
            </a:custGeom>
            <a:blipFill>
              <a:blip r:embed="rId5"/>
              <a:stretch>
                <a:fillRect t="-278" b="-279"/>
              </a:stretch>
            </a:blipFill>
          </p:spPr>
        </p:sp>
      </p:grpSp>
      <p:sp>
        <p:nvSpPr>
          <p:cNvPr id="8" name="TextBox 8"/>
          <p:cNvSpPr txBox="1"/>
          <p:nvPr/>
        </p:nvSpPr>
        <p:spPr>
          <a:xfrm>
            <a:off x="1432998" y="2060153"/>
            <a:ext cx="15422004" cy="4067175"/>
          </a:xfrm>
          <a:prstGeom prst="rect">
            <a:avLst/>
          </a:prstGeom>
        </p:spPr>
        <p:txBody>
          <a:bodyPr lIns="0" tIns="0" rIns="0" bIns="0" rtlCol="0" anchor="t">
            <a:spAutoFit/>
          </a:bodyPr>
          <a:lstStyle/>
          <a:p>
            <a:pPr marL="571379" lvl="2" indent="-190460" algn="just">
              <a:lnSpc>
                <a:spcPts val="4424"/>
              </a:lnSpc>
              <a:buFont typeface="Arial"/>
              <a:buChar char="⚬"/>
            </a:pPr>
            <a:r>
              <a:rPr lang="en-US" sz="2499" dirty="0">
                <a:solidFill>
                  <a:srgbClr val="1E4664"/>
                </a:solidFill>
                <a:latin typeface="Times New Roman MT"/>
                <a:ea typeface="Times New Roman MT"/>
                <a:cs typeface="Times New Roman MT"/>
                <a:sym typeface="Times New Roman MT"/>
              </a:rPr>
              <a:t>This project relied on a secondary dataset (pre-</a:t>
            </a:r>
            <a:r>
              <a:rPr lang="en-US" sz="2499" dirty="0" err="1">
                <a:solidFill>
                  <a:srgbClr val="1E4664"/>
                </a:solidFill>
                <a:latin typeface="Times New Roman MT"/>
                <a:ea typeface="Times New Roman MT"/>
                <a:cs typeface="Times New Roman MT"/>
                <a:sym typeface="Times New Roman MT"/>
              </a:rPr>
              <a:t>anonymised</a:t>
            </a:r>
            <a:r>
              <a:rPr lang="en-US" sz="2499" dirty="0">
                <a:solidFill>
                  <a:srgbClr val="1E4664"/>
                </a:solidFill>
                <a:latin typeface="Times New Roman MT"/>
                <a:ea typeface="Times New Roman MT"/>
                <a:cs typeface="Times New Roman MT"/>
                <a:sym typeface="Times New Roman MT"/>
              </a:rPr>
              <a:t>) that was made available to the public, and no primary data was collected or did human subjects participate.</a:t>
            </a:r>
          </a:p>
          <a:p>
            <a:pPr marL="571379" lvl="2" indent="-190460" algn="just">
              <a:lnSpc>
                <a:spcPts val="4424"/>
              </a:lnSpc>
              <a:buFont typeface="Arial"/>
              <a:buChar char="⚬"/>
            </a:pPr>
            <a:r>
              <a:rPr lang="en-US" sz="2499" dirty="0">
                <a:solidFill>
                  <a:srgbClr val="1E4664"/>
                </a:solidFill>
                <a:latin typeface="Times New Roman MT"/>
                <a:ea typeface="Times New Roman MT"/>
                <a:cs typeface="Times New Roman MT"/>
                <a:sym typeface="Times New Roman MT"/>
              </a:rPr>
              <a:t>There was no personally identifiable information used, so there were no participant-related risks such as informed consent, privacy or participant identification. The information was kept in a secure way on storage that was password-protected.</a:t>
            </a:r>
          </a:p>
          <a:p>
            <a:pPr marL="571379" lvl="2" indent="-190460" algn="just">
              <a:lnSpc>
                <a:spcPts val="4424"/>
              </a:lnSpc>
              <a:buFont typeface="Arial"/>
              <a:buChar char="⚬"/>
            </a:pPr>
            <a:r>
              <a:rPr lang="en-US" sz="2499" dirty="0">
                <a:solidFill>
                  <a:srgbClr val="1E4664"/>
                </a:solidFill>
                <a:latin typeface="Times New Roman MT"/>
                <a:ea typeface="Times New Roman MT"/>
                <a:cs typeface="Times New Roman MT"/>
                <a:sym typeface="Times New Roman MT"/>
              </a:rPr>
              <a:t>Ethics position: UREC2 Low Risk Human Participant Research Ethics documentation completed (no external or NHS approval required).</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959653" y="-1028700"/>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t="-35" b="-35"/>
            </a:stretch>
          </a:blipFill>
        </p:spPr>
      </p:sp>
      <p:grpSp>
        <p:nvGrpSpPr>
          <p:cNvPr id="5" name="Group 5"/>
          <p:cNvGrpSpPr/>
          <p:nvPr/>
        </p:nvGrpSpPr>
        <p:grpSpPr>
          <a:xfrm>
            <a:off x="6940715" y="1380982"/>
            <a:ext cx="2967790" cy="8488375"/>
            <a:chOff x="0" y="0"/>
            <a:chExt cx="3957053" cy="11317834"/>
          </a:xfrm>
        </p:grpSpPr>
        <p:sp>
          <p:nvSpPr>
            <p:cNvPr id="6" name="Freeform 6"/>
            <p:cNvSpPr/>
            <p:nvPr/>
          </p:nvSpPr>
          <p:spPr>
            <a:xfrm>
              <a:off x="0" y="0"/>
              <a:ext cx="3957066" cy="11317859"/>
            </a:xfrm>
            <a:custGeom>
              <a:avLst/>
              <a:gdLst/>
              <a:ahLst/>
              <a:cxnLst/>
              <a:rect l="l" t="t" r="r" b="b"/>
              <a:pathLst>
                <a:path w="3957066" h="11317859">
                  <a:moveTo>
                    <a:pt x="0" y="0"/>
                  </a:moveTo>
                  <a:lnTo>
                    <a:pt x="3957066" y="0"/>
                  </a:lnTo>
                  <a:lnTo>
                    <a:pt x="3957066" y="11317859"/>
                  </a:lnTo>
                  <a:lnTo>
                    <a:pt x="0" y="11317859"/>
                  </a:lnTo>
                  <a:lnTo>
                    <a:pt x="0" y="0"/>
                  </a:lnTo>
                  <a:close/>
                </a:path>
              </a:pathLst>
            </a:custGeom>
            <a:blipFill>
              <a:blip r:embed="rId5"/>
              <a:stretch>
                <a:fillRect l="-52" r="-52"/>
              </a:stretch>
            </a:blipFill>
          </p:spPr>
        </p:sp>
      </p:grpSp>
      <p:sp>
        <p:nvSpPr>
          <p:cNvPr id="7" name="Freeform 7"/>
          <p:cNvSpPr/>
          <p:nvPr/>
        </p:nvSpPr>
        <p:spPr>
          <a:xfrm>
            <a:off x="0" y="3567770"/>
            <a:ext cx="5638657" cy="5337934"/>
          </a:xfrm>
          <a:custGeom>
            <a:avLst/>
            <a:gdLst/>
            <a:ahLst/>
            <a:cxnLst/>
            <a:rect l="l" t="t" r="r" b="b"/>
            <a:pathLst>
              <a:path w="5638657" h="5337934">
                <a:moveTo>
                  <a:pt x="0" y="0"/>
                </a:moveTo>
                <a:lnTo>
                  <a:pt x="5638657" y="0"/>
                </a:lnTo>
                <a:lnTo>
                  <a:pt x="5638657" y="5337934"/>
                </a:lnTo>
                <a:lnTo>
                  <a:pt x="0" y="5337934"/>
                </a:lnTo>
                <a:lnTo>
                  <a:pt x="0" y="0"/>
                </a:lnTo>
                <a:close/>
              </a:path>
            </a:pathLst>
          </a:custGeom>
          <a:blipFill>
            <a:blip>
              <a:extLst>
                <a:ext uri="{96DAC541-7B7A-43D3-8B79-37D633B846F1}">
                  <asvg:svgBlip xmlns:asvg="http://schemas.microsoft.com/office/drawing/2016/SVG/main" r:embed="rId6"/>
                </a:ext>
              </a:extLst>
            </a:blip>
            <a:stretch>
              <a:fillRect t="-229" b="-229"/>
            </a:stretch>
          </a:blipFill>
        </p:spPr>
      </p:sp>
      <p:sp>
        <p:nvSpPr>
          <p:cNvPr id="8" name="TextBox 8"/>
          <p:cNvSpPr txBox="1"/>
          <p:nvPr/>
        </p:nvSpPr>
        <p:spPr>
          <a:xfrm>
            <a:off x="2734199" y="412604"/>
            <a:ext cx="13503583"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Project Design / Implementation</a:t>
            </a:r>
          </a:p>
        </p:txBody>
      </p:sp>
      <p:sp>
        <p:nvSpPr>
          <p:cNvPr id="9" name="TextBox 9"/>
          <p:cNvSpPr txBox="1"/>
          <p:nvPr/>
        </p:nvSpPr>
        <p:spPr>
          <a:xfrm>
            <a:off x="10261187" y="4243864"/>
            <a:ext cx="7315467" cy="1780213"/>
          </a:xfrm>
          <a:prstGeom prst="rect">
            <a:avLst/>
          </a:prstGeom>
        </p:spPr>
        <p:txBody>
          <a:bodyPr lIns="0" tIns="0" rIns="0" bIns="0" rtlCol="0" anchor="t">
            <a:spAutoFit/>
          </a:bodyPr>
          <a:lstStyle/>
          <a:p>
            <a:pPr algn="ctr">
              <a:lnSpc>
                <a:spcPts val="3336"/>
              </a:lnSpc>
            </a:pPr>
            <a:r>
              <a:rPr lang="en-US" sz="3336">
                <a:solidFill>
                  <a:srgbClr val="1E4664"/>
                </a:solidFill>
                <a:latin typeface="Times New Roman MT"/>
                <a:ea typeface="Times New Roman MT"/>
                <a:cs typeface="Times New Roman MT"/>
                <a:sym typeface="Times New Roman MT"/>
              </a:rPr>
              <a:t>The design was developed to address class imbalance, fraud detection, false-positive control and computational latency. </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flipH="1" flipV="1">
            <a:off x="15994399" y="759517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a:extLst>
                <a:ext uri="{96DAC541-7B7A-43D3-8B79-37D633B846F1}">
                  <asvg:svgBlip xmlns:asvg="http://schemas.microsoft.com/office/drawing/2016/SVG/main" r:embed="rId4"/>
                </a:ext>
              </a:extLst>
            </a:blip>
            <a:stretch>
              <a:fillRect t="-35" b="-35"/>
            </a:stretch>
          </a:blipFill>
        </p:spPr>
      </p:sp>
      <p:grpSp>
        <p:nvGrpSpPr>
          <p:cNvPr id="5" name="Group 5"/>
          <p:cNvGrpSpPr/>
          <p:nvPr/>
        </p:nvGrpSpPr>
        <p:grpSpPr>
          <a:xfrm>
            <a:off x="10449411" y="0"/>
            <a:ext cx="6556219" cy="4873457"/>
            <a:chOff x="0" y="0"/>
            <a:chExt cx="8741626" cy="6497942"/>
          </a:xfrm>
        </p:grpSpPr>
        <p:sp>
          <p:nvSpPr>
            <p:cNvPr id="6" name="Freeform 6"/>
            <p:cNvSpPr/>
            <p:nvPr/>
          </p:nvSpPr>
          <p:spPr>
            <a:xfrm>
              <a:off x="0" y="0"/>
              <a:ext cx="8741664" cy="6497955"/>
            </a:xfrm>
            <a:custGeom>
              <a:avLst/>
              <a:gdLst/>
              <a:ahLst/>
              <a:cxnLst/>
              <a:rect l="l" t="t" r="r" b="b"/>
              <a:pathLst>
                <a:path w="8741664" h="6497955">
                  <a:moveTo>
                    <a:pt x="0" y="0"/>
                  </a:moveTo>
                  <a:lnTo>
                    <a:pt x="8741664" y="0"/>
                  </a:lnTo>
                  <a:lnTo>
                    <a:pt x="8741664" y="6497955"/>
                  </a:lnTo>
                  <a:lnTo>
                    <a:pt x="0" y="6497955"/>
                  </a:lnTo>
                  <a:lnTo>
                    <a:pt x="0" y="0"/>
                  </a:lnTo>
                  <a:close/>
                </a:path>
              </a:pathLst>
            </a:custGeom>
            <a:blipFill>
              <a:blip r:embed="rId5"/>
              <a:stretch>
                <a:fillRect t="-74" b="-74"/>
              </a:stretch>
            </a:blipFill>
          </p:spPr>
        </p:sp>
      </p:grpSp>
      <p:grpSp>
        <p:nvGrpSpPr>
          <p:cNvPr id="7" name="Group 7"/>
          <p:cNvGrpSpPr/>
          <p:nvPr/>
        </p:nvGrpSpPr>
        <p:grpSpPr>
          <a:xfrm>
            <a:off x="10293877" y="5276536"/>
            <a:ext cx="6867277" cy="4662116"/>
            <a:chOff x="0" y="0"/>
            <a:chExt cx="9156370" cy="6216155"/>
          </a:xfrm>
        </p:grpSpPr>
        <p:sp>
          <p:nvSpPr>
            <p:cNvPr id="8" name="Freeform 8"/>
            <p:cNvSpPr/>
            <p:nvPr/>
          </p:nvSpPr>
          <p:spPr>
            <a:xfrm>
              <a:off x="0" y="0"/>
              <a:ext cx="9156319" cy="6216142"/>
            </a:xfrm>
            <a:custGeom>
              <a:avLst/>
              <a:gdLst/>
              <a:ahLst/>
              <a:cxnLst/>
              <a:rect l="l" t="t" r="r" b="b"/>
              <a:pathLst>
                <a:path w="9156319" h="6216142">
                  <a:moveTo>
                    <a:pt x="0" y="0"/>
                  </a:moveTo>
                  <a:lnTo>
                    <a:pt x="9156319" y="0"/>
                  </a:lnTo>
                  <a:lnTo>
                    <a:pt x="9156319" y="6216142"/>
                  </a:lnTo>
                  <a:lnTo>
                    <a:pt x="0" y="6216142"/>
                  </a:lnTo>
                  <a:lnTo>
                    <a:pt x="0" y="0"/>
                  </a:lnTo>
                  <a:close/>
                </a:path>
              </a:pathLst>
            </a:custGeom>
            <a:blipFill>
              <a:blip r:embed="rId6"/>
              <a:stretch>
                <a:fillRect/>
              </a:stretch>
            </a:blipFill>
          </p:spPr>
        </p:sp>
      </p:grpSp>
      <p:sp>
        <p:nvSpPr>
          <p:cNvPr id="9" name="TextBox 9"/>
          <p:cNvSpPr txBox="1"/>
          <p:nvPr/>
        </p:nvSpPr>
        <p:spPr>
          <a:xfrm>
            <a:off x="2507399" y="359883"/>
            <a:ext cx="8535229"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Prototype</a:t>
            </a:r>
          </a:p>
        </p:txBody>
      </p:sp>
      <p:sp>
        <p:nvSpPr>
          <p:cNvPr id="10" name="TextBox 10"/>
          <p:cNvSpPr txBox="1"/>
          <p:nvPr/>
        </p:nvSpPr>
        <p:spPr>
          <a:xfrm>
            <a:off x="648281" y="2553938"/>
            <a:ext cx="8079686" cy="6814185"/>
          </a:xfrm>
          <a:prstGeom prst="rect">
            <a:avLst/>
          </a:prstGeom>
        </p:spPr>
        <p:txBody>
          <a:bodyPr lIns="0" tIns="0" rIns="0" bIns="0" rtlCol="0" anchor="t">
            <a:spAutoFit/>
          </a:bodyPr>
          <a:lstStyle/>
          <a:p>
            <a:pPr algn="just">
              <a:lnSpc>
                <a:spcPts val="3599"/>
              </a:lnSpc>
            </a:pPr>
            <a:r>
              <a:rPr lang="en-US" sz="2399" b="1">
                <a:solidFill>
                  <a:srgbClr val="1E4664"/>
                </a:solidFill>
                <a:latin typeface="Times New Roman Bold"/>
                <a:ea typeface="Times New Roman Bold"/>
                <a:cs typeface="Times New Roman Bold"/>
                <a:sym typeface="Times New Roman Bold"/>
              </a:rPr>
              <a:t>As a result of this, the Fraud Detection Model was implemented.</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The prototype was written in Python with the help of pandas and scikit-learn.</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The model combines:</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Random Forest</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Baseline classifier</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XGBoost</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Baseline gradient-boosting classifier</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Stacking Ensemble</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The second model is a Random Forest + XGBoost meta-classifier with logistic regression.</a:t>
            </a:r>
          </a:p>
          <a:p>
            <a:pPr marL="548519" lvl="2" indent="-182840" algn="just">
              <a:lnSpc>
                <a:spcPts val="3599"/>
              </a:lnSpc>
            </a:pPr>
            <a:r>
              <a:rPr lang="en-US" sz="2399">
                <a:solidFill>
                  <a:srgbClr val="1E4664"/>
                </a:solidFill>
                <a:latin typeface="Times New Roman MT"/>
                <a:ea typeface="Times New Roman MT"/>
                <a:cs typeface="Times New Roman MT"/>
                <a:sym typeface="Times New Roman MT"/>
              </a:rPr>
              <a:t>The entire process of preprocessing, SMOTE, model training, prediction and model performance evaluation were performed.</a:t>
            </a:r>
          </a:p>
          <a:p>
            <a:pPr marL="548519" lvl="2" indent="-182840" algn="just">
              <a:lnSpc>
                <a:spcPts val="3599"/>
              </a:lnSpc>
            </a:pPr>
            <a:endParaRPr lang="en-US" sz="2399">
              <a:solidFill>
                <a:srgbClr val="1E4664"/>
              </a:solidFill>
              <a:latin typeface="Times New Roman MT"/>
              <a:ea typeface="Times New Roman MT"/>
              <a:cs typeface="Times New Roman MT"/>
              <a:sym typeface="Times New Roman MT"/>
            </a:endParaRPr>
          </a:p>
        </p:txBody>
      </p:sp>
      <p:sp>
        <p:nvSpPr>
          <p:cNvPr id="11" name="TextBox 11"/>
          <p:cNvSpPr txBox="1"/>
          <p:nvPr/>
        </p:nvSpPr>
        <p:spPr>
          <a:xfrm>
            <a:off x="11911146" y="5010464"/>
            <a:ext cx="3632740" cy="266062"/>
          </a:xfrm>
          <a:prstGeom prst="rect">
            <a:avLst/>
          </a:prstGeom>
        </p:spPr>
        <p:txBody>
          <a:bodyPr lIns="0" tIns="0" rIns="0" bIns="0" rtlCol="0" anchor="t">
            <a:spAutoFit/>
          </a:bodyPr>
          <a:lstStyle/>
          <a:p>
            <a:pPr algn="ctr">
              <a:lnSpc>
                <a:spcPts val="1760"/>
              </a:lnSpc>
            </a:pPr>
            <a:r>
              <a:rPr lang="en-US" sz="1760">
                <a:solidFill>
                  <a:srgbClr val="1E4664"/>
                </a:solidFill>
                <a:latin typeface="Times New Roman MT"/>
                <a:ea typeface="Times New Roman MT"/>
                <a:cs typeface="Times New Roman MT"/>
                <a:sym typeface="Times New Roman MT"/>
              </a:rPr>
              <a:t>Stacking Ensemble Confusion Matrix.</a:t>
            </a:r>
          </a:p>
        </p:txBody>
      </p:sp>
      <p:sp>
        <p:nvSpPr>
          <p:cNvPr id="12" name="TextBox 12"/>
          <p:cNvSpPr txBox="1"/>
          <p:nvPr/>
        </p:nvSpPr>
        <p:spPr>
          <a:xfrm>
            <a:off x="10449411" y="9969503"/>
            <a:ext cx="5698931" cy="317497"/>
          </a:xfrm>
          <a:prstGeom prst="rect">
            <a:avLst/>
          </a:prstGeom>
        </p:spPr>
        <p:txBody>
          <a:bodyPr lIns="0" tIns="0" rIns="0" bIns="0" rtlCol="0" anchor="t">
            <a:spAutoFit/>
          </a:bodyPr>
          <a:lstStyle/>
          <a:p>
            <a:pPr algn="ctr">
              <a:lnSpc>
                <a:spcPts val="2000"/>
              </a:lnSpc>
            </a:pPr>
            <a:r>
              <a:rPr lang="en-US" sz="2000">
                <a:solidFill>
                  <a:srgbClr val="1E4664"/>
                </a:solidFill>
                <a:latin typeface="Times New Roman MT"/>
                <a:ea typeface="Times New Roman MT"/>
                <a:cs typeface="Times New Roman MT"/>
                <a:sym typeface="Times New Roman MT"/>
              </a:rPr>
              <a:t>Precision–Recall Trade-off for the Evaluated Models.</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graphicFrame>
        <p:nvGraphicFramePr>
          <p:cNvPr id="4" name="Table 4"/>
          <p:cNvGraphicFramePr>
            <a:graphicFrameLocks noGrp="1"/>
          </p:cNvGraphicFramePr>
          <p:nvPr/>
        </p:nvGraphicFramePr>
        <p:xfrm>
          <a:off x="424925" y="2922638"/>
          <a:ext cx="8001000" cy="5994399"/>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1389577">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Model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F1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AUC-ROC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FPR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Training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25668">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Random Forest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0.0451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0.8271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0.0026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39.94s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389577">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XGBoost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0.0576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0.8441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0.0020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3.05s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89577">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Stacking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0.0546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0.7838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0.0027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118.86s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5" name="Group 5"/>
          <p:cNvGrpSpPr/>
          <p:nvPr/>
        </p:nvGrpSpPr>
        <p:grpSpPr>
          <a:xfrm>
            <a:off x="8976703" y="4546873"/>
            <a:ext cx="6704076" cy="4711427"/>
            <a:chOff x="0" y="0"/>
            <a:chExt cx="8938768" cy="6281903"/>
          </a:xfrm>
        </p:grpSpPr>
        <p:sp>
          <p:nvSpPr>
            <p:cNvPr id="6" name="Freeform 6"/>
            <p:cNvSpPr/>
            <p:nvPr/>
          </p:nvSpPr>
          <p:spPr>
            <a:xfrm>
              <a:off x="0" y="0"/>
              <a:ext cx="8938768" cy="6281928"/>
            </a:xfrm>
            <a:custGeom>
              <a:avLst/>
              <a:gdLst/>
              <a:ahLst/>
              <a:cxnLst/>
              <a:rect l="l" t="t" r="r" b="b"/>
              <a:pathLst>
                <a:path w="8938768" h="6281928">
                  <a:moveTo>
                    <a:pt x="0" y="0"/>
                  </a:moveTo>
                  <a:lnTo>
                    <a:pt x="8938768" y="0"/>
                  </a:lnTo>
                  <a:lnTo>
                    <a:pt x="8938768" y="6281928"/>
                  </a:lnTo>
                  <a:lnTo>
                    <a:pt x="0" y="6281928"/>
                  </a:lnTo>
                  <a:lnTo>
                    <a:pt x="0" y="0"/>
                  </a:lnTo>
                  <a:close/>
                </a:path>
              </a:pathLst>
            </a:custGeom>
            <a:blipFill>
              <a:blip r:embed="rId4"/>
              <a:stretch>
                <a:fillRect/>
              </a:stretch>
            </a:blipFill>
          </p:spPr>
        </p:sp>
      </p:grpSp>
      <p:sp>
        <p:nvSpPr>
          <p:cNvPr id="7" name="TextBox 7"/>
          <p:cNvSpPr txBox="1"/>
          <p:nvPr/>
        </p:nvSpPr>
        <p:spPr>
          <a:xfrm>
            <a:off x="2544213" y="487366"/>
            <a:ext cx="13824928" cy="1073153"/>
          </a:xfrm>
          <a:prstGeom prst="rect">
            <a:avLst/>
          </a:prstGeom>
        </p:spPr>
        <p:txBody>
          <a:bodyPr lIns="0" tIns="0" rIns="0" bIns="0" rtlCol="0" anchor="t">
            <a:spAutoFit/>
          </a:bodyPr>
          <a:lstStyle/>
          <a:p>
            <a:pPr algn="ctr">
              <a:lnSpc>
                <a:spcPts val="6999"/>
              </a:lnSpc>
            </a:pPr>
            <a:r>
              <a:rPr lang="en-US" sz="6999">
                <a:solidFill>
                  <a:srgbClr val="1E4664"/>
                </a:solidFill>
                <a:latin typeface="Times New Roman MT"/>
                <a:ea typeface="Times New Roman MT"/>
                <a:cs typeface="Times New Roman MT"/>
                <a:sym typeface="Times New Roman MT"/>
              </a:rPr>
              <a:t>Results &amp; Evaluation</a:t>
            </a:r>
          </a:p>
        </p:txBody>
      </p:sp>
      <p:sp>
        <p:nvSpPr>
          <p:cNvPr id="8" name="TextBox 8"/>
          <p:cNvSpPr txBox="1"/>
          <p:nvPr/>
        </p:nvSpPr>
        <p:spPr>
          <a:xfrm>
            <a:off x="601170" y="1979266"/>
            <a:ext cx="2444506" cy="498472"/>
          </a:xfrm>
          <a:prstGeom prst="rect">
            <a:avLst/>
          </a:prstGeom>
        </p:spPr>
        <p:txBody>
          <a:bodyPr lIns="0" tIns="0" rIns="0" bIns="0" rtlCol="0" anchor="t">
            <a:spAutoFit/>
          </a:bodyPr>
          <a:lstStyle/>
          <a:p>
            <a:pPr algn="ctr">
              <a:lnSpc>
                <a:spcPts val="3500"/>
              </a:lnSpc>
            </a:pPr>
            <a:r>
              <a:rPr lang="en-US" sz="3500" b="1">
                <a:solidFill>
                  <a:srgbClr val="1E4664"/>
                </a:solidFill>
                <a:latin typeface="Times New Roman Bold"/>
                <a:ea typeface="Times New Roman Bold"/>
                <a:cs typeface="Times New Roman Bold"/>
                <a:sym typeface="Times New Roman Bold"/>
              </a:rPr>
              <a:t>Base Dataset</a:t>
            </a:r>
          </a:p>
        </p:txBody>
      </p:sp>
      <p:sp>
        <p:nvSpPr>
          <p:cNvPr id="9" name="TextBox 9"/>
          <p:cNvSpPr txBox="1"/>
          <p:nvPr/>
        </p:nvSpPr>
        <p:spPr>
          <a:xfrm>
            <a:off x="9456677" y="2004670"/>
            <a:ext cx="8326917" cy="2112264"/>
          </a:xfrm>
          <a:prstGeom prst="rect">
            <a:avLst/>
          </a:prstGeom>
        </p:spPr>
        <p:txBody>
          <a:bodyPr lIns="0" tIns="0" rIns="0" bIns="0" rtlCol="0" anchor="t">
            <a:spAutoFit/>
          </a:bodyPr>
          <a:lstStyle/>
          <a:p>
            <a:pPr algn="l">
              <a:lnSpc>
                <a:spcPts val="2687"/>
              </a:lnSpc>
            </a:pPr>
            <a:r>
              <a:rPr lang="en-US" sz="1599" b="1">
                <a:solidFill>
                  <a:srgbClr val="1E4664"/>
                </a:solidFill>
                <a:latin typeface="Times New Roman MT Bold"/>
                <a:ea typeface="Times New Roman MT Bold"/>
                <a:cs typeface="Times New Roman MT Bold"/>
                <a:sym typeface="Times New Roman MT Bold"/>
              </a:rPr>
              <a:t>Key finding: </a:t>
            </a:r>
            <a:r>
              <a:rPr lang="en-US" sz="1599">
                <a:solidFill>
                  <a:srgbClr val="1E4664"/>
                </a:solidFill>
                <a:latin typeface="Times New Roman MT"/>
                <a:ea typeface="Times New Roman MT"/>
                <a:cs typeface="Times New Roman MT"/>
                <a:sym typeface="Times New Roman MT"/>
              </a:rPr>
              <a:t>XGBoost outperformed the Stacking Ensemble on the Base dataset, and trained significantly quicker.</a:t>
            </a:r>
          </a:p>
          <a:p>
            <a:pPr algn="l">
              <a:lnSpc>
                <a:spcPts val="2687"/>
              </a:lnSpc>
            </a:pPr>
            <a:r>
              <a:rPr lang="en-US" sz="1599">
                <a:solidFill>
                  <a:srgbClr val="1E4664"/>
                </a:solidFill>
                <a:latin typeface="Times New Roman MT"/>
                <a:ea typeface="Times New Roman MT"/>
                <a:cs typeface="Times New Roman MT"/>
                <a:sym typeface="Times New Roman MT"/>
              </a:rPr>
              <a:t> </a:t>
            </a:r>
          </a:p>
          <a:p>
            <a:pPr algn="l">
              <a:lnSpc>
                <a:spcPts val="2687"/>
              </a:lnSpc>
            </a:pPr>
            <a:r>
              <a:rPr lang="en-US" sz="1599" b="1">
                <a:solidFill>
                  <a:srgbClr val="1E4664"/>
                </a:solidFill>
                <a:latin typeface="Times New Roman Bold"/>
                <a:ea typeface="Times New Roman Bold"/>
                <a:cs typeface="Times New Roman Bold"/>
                <a:sym typeface="Times New Roman Bold"/>
              </a:rPr>
              <a:t>Robustness</a:t>
            </a:r>
          </a:p>
          <a:p>
            <a:pPr algn="l">
              <a:lnSpc>
                <a:spcPts val="2687"/>
              </a:lnSpc>
            </a:pPr>
            <a:r>
              <a:rPr lang="en-US" sz="1599">
                <a:solidFill>
                  <a:srgbClr val="1E4664"/>
                </a:solidFill>
                <a:latin typeface="Times New Roman MT"/>
                <a:ea typeface="Times New Roman MT"/>
                <a:cs typeface="Times New Roman MT"/>
                <a:sym typeface="Times New Roman MT"/>
              </a:rPr>
              <a:t>The Stacking Ensemble performed well on at least five variant datasets, achieving the best score of 0.1250 on Variant II.</a:t>
            </a:r>
          </a:p>
        </p:txBody>
      </p:sp>
      <p:sp>
        <p:nvSpPr>
          <p:cNvPr id="10" name="TextBox 10"/>
          <p:cNvSpPr txBox="1"/>
          <p:nvPr/>
        </p:nvSpPr>
        <p:spPr>
          <a:xfrm>
            <a:off x="10038950" y="9471422"/>
            <a:ext cx="4579591" cy="377828"/>
          </a:xfrm>
          <a:prstGeom prst="rect">
            <a:avLst/>
          </a:prstGeom>
        </p:spPr>
        <p:txBody>
          <a:bodyPr lIns="0" tIns="0" rIns="0" bIns="0" rtlCol="0" anchor="t">
            <a:spAutoFit/>
          </a:bodyPr>
          <a:lstStyle/>
          <a:p>
            <a:pPr algn="ctr">
              <a:lnSpc>
                <a:spcPts val="2499"/>
              </a:lnSpc>
            </a:pPr>
            <a:r>
              <a:rPr lang="en-US" sz="2499">
                <a:solidFill>
                  <a:srgbClr val="1E4664"/>
                </a:solidFill>
                <a:latin typeface="Times New Roman MT"/>
                <a:ea typeface="Times New Roman MT"/>
                <a:cs typeface="Times New Roman MT"/>
                <a:sym typeface="Times New Roman MT"/>
              </a:rPr>
              <a:t>Class Distribution After SMOTE.</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flipH="1" flipV="1">
            <a:off x="15994399" y="759517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a:extLst>
                <a:ext uri="{96DAC541-7B7A-43D3-8B79-37D633B846F1}">
                  <asvg:svgBlip xmlns:asvg="http://schemas.microsoft.com/office/drawing/2016/SVG/main" r:embed="rId4"/>
                </a:ext>
              </a:extLst>
            </a:blip>
            <a:stretch>
              <a:fillRect t="-35" b="-35"/>
            </a:stretch>
          </a:blipFill>
        </p:spPr>
      </p:sp>
      <p:grpSp>
        <p:nvGrpSpPr>
          <p:cNvPr id="5" name="Group 5"/>
          <p:cNvGrpSpPr/>
          <p:nvPr/>
        </p:nvGrpSpPr>
        <p:grpSpPr>
          <a:xfrm>
            <a:off x="10595543" y="2014071"/>
            <a:ext cx="7548039" cy="5172027"/>
            <a:chOff x="0" y="0"/>
            <a:chExt cx="10064052" cy="6896036"/>
          </a:xfrm>
        </p:grpSpPr>
        <p:sp>
          <p:nvSpPr>
            <p:cNvPr id="6" name="Freeform 6"/>
            <p:cNvSpPr/>
            <p:nvPr/>
          </p:nvSpPr>
          <p:spPr>
            <a:xfrm>
              <a:off x="0" y="0"/>
              <a:ext cx="10064115" cy="6895973"/>
            </a:xfrm>
            <a:custGeom>
              <a:avLst/>
              <a:gdLst/>
              <a:ahLst/>
              <a:cxnLst/>
              <a:rect l="l" t="t" r="r" b="b"/>
              <a:pathLst>
                <a:path w="10064115" h="6895973">
                  <a:moveTo>
                    <a:pt x="0" y="0"/>
                  </a:moveTo>
                  <a:lnTo>
                    <a:pt x="10064115" y="0"/>
                  </a:lnTo>
                  <a:lnTo>
                    <a:pt x="10064115" y="6895973"/>
                  </a:lnTo>
                  <a:lnTo>
                    <a:pt x="0" y="6895973"/>
                  </a:lnTo>
                  <a:lnTo>
                    <a:pt x="0" y="0"/>
                  </a:lnTo>
                  <a:close/>
                </a:path>
              </a:pathLst>
            </a:custGeom>
            <a:blipFill>
              <a:blip r:embed="rId5"/>
              <a:stretch>
                <a:fillRect/>
              </a:stretch>
            </a:blipFill>
          </p:spPr>
        </p:sp>
      </p:grpSp>
      <p:sp>
        <p:nvSpPr>
          <p:cNvPr id="7" name="TextBox 7"/>
          <p:cNvSpPr txBox="1"/>
          <p:nvPr/>
        </p:nvSpPr>
        <p:spPr>
          <a:xfrm>
            <a:off x="2507399" y="359883"/>
            <a:ext cx="8535229"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Evaluation</a:t>
            </a:r>
          </a:p>
        </p:txBody>
      </p:sp>
      <p:sp>
        <p:nvSpPr>
          <p:cNvPr id="8" name="TextBox 8"/>
          <p:cNvSpPr txBox="1"/>
          <p:nvPr/>
        </p:nvSpPr>
        <p:spPr>
          <a:xfrm>
            <a:off x="566204" y="1296924"/>
            <a:ext cx="9803320" cy="8990076"/>
          </a:xfrm>
          <a:prstGeom prst="rect">
            <a:avLst/>
          </a:prstGeom>
        </p:spPr>
        <p:txBody>
          <a:bodyPr lIns="0" tIns="0" rIns="0" bIns="0" rtlCol="0" anchor="t">
            <a:spAutoFit/>
          </a:bodyPr>
          <a:lstStyle/>
          <a:p>
            <a:pPr algn="just">
              <a:lnSpc>
                <a:spcPts val="4391"/>
              </a:lnSpc>
            </a:pPr>
            <a:r>
              <a:rPr lang="en-US" sz="2399" b="1">
                <a:solidFill>
                  <a:srgbClr val="1E4664"/>
                </a:solidFill>
                <a:latin typeface="Times New Roman Bold"/>
                <a:ea typeface="Times New Roman Bold"/>
                <a:cs typeface="Times New Roman Bold"/>
                <a:sym typeface="Times New Roman Bold"/>
              </a:rPr>
              <a:t>System Evaluation</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Eight system tests were performed; these included:</a:t>
            </a:r>
          </a:p>
          <a:p>
            <a:pPr marL="548519" lvl="2" indent="-182840" algn="just">
              <a:lnSpc>
                <a:spcPts val="4391"/>
              </a:lnSpc>
            </a:pPr>
            <a:r>
              <a:rPr lang="en-US" sz="2399">
                <a:solidFill>
                  <a:srgbClr val="1E4664"/>
                </a:solidFill>
                <a:latin typeface="Times New Roman MT"/>
                <a:ea typeface="Times New Roman MT"/>
                <a:cs typeface="Times New Roman MT"/>
                <a:sym typeface="Times New Roman MT"/>
              </a:rPr>
              <a:t>Data loading, Pre-processing, SMOTE, Model Training, Ensemble Prediction, Performance Evaluation, False-Positive Testing, Computational Testing.</a:t>
            </a:r>
          </a:p>
          <a:p>
            <a:pPr marL="548519" lvl="2" indent="-182840" algn="just">
              <a:lnSpc>
                <a:spcPts val="4391"/>
              </a:lnSpc>
            </a:pPr>
            <a:r>
              <a:rPr lang="en-US" sz="2399">
                <a:solidFill>
                  <a:srgbClr val="1E4664"/>
                </a:solidFill>
                <a:latin typeface="Times New Roman MT"/>
                <a:ea typeface="Times New Roman MT"/>
                <a:cs typeface="Times New Roman MT"/>
                <a:sym typeface="Times New Roman MT"/>
              </a:rPr>
              <a:t>There was a Passed grade for all 8 tests.</a:t>
            </a:r>
          </a:p>
          <a:p>
            <a:pPr marL="548519" lvl="2" indent="-182840" algn="just">
              <a:lnSpc>
                <a:spcPts val="4391"/>
              </a:lnSpc>
            </a:pPr>
            <a:r>
              <a:rPr lang="en-US" sz="2399" b="1">
                <a:solidFill>
                  <a:srgbClr val="1E4664"/>
                </a:solidFill>
                <a:latin typeface="Times New Roman Bold"/>
                <a:ea typeface="Times New Roman Bold"/>
                <a:cs typeface="Times New Roman Bold"/>
                <a:sym typeface="Times New Roman Bold"/>
              </a:rPr>
              <a:t>Overall Evaluation</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The core technical requirements were met, such as class-imbalance treatment, model development, fraud prediction, model performance metrics, false-positive analysis, computational assessment and robustness testing.</a:t>
            </a:r>
          </a:p>
          <a:p>
            <a:pPr marL="548519" lvl="2" indent="-182840" algn="just">
              <a:lnSpc>
                <a:spcPts val="4391"/>
              </a:lnSpc>
            </a:pPr>
            <a:r>
              <a:rPr lang="en-US" sz="2399" b="1">
                <a:solidFill>
                  <a:srgbClr val="1E4664"/>
                </a:solidFill>
                <a:latin typeface="Times New Roman Bold"/>
                <a:ea typeface="Times New Roman Bold"/>
                <a:cs typeface="Times New Roman Bold"/>
                <a:sym typeface="Times New Roman Bold"/>
              </a:rPr>
              <a:t>Limitations: </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The project was based on secondary, pre-anonymised data with no potential beneficiaries/human users participating. As such, evidence of user feedback and consent did not exist.</a:t>
            </a:r>
          </a:p>
          <a:p>
            <a:pPr marL="548519" lvl="2" indent="-182840" algn="just">
              <a:lnSpc>
                <a:spcPts val="4391"/>
              </a:lnSpc>
            </a:pPr>
            <a:endParaRPr lang="en-US" sz="2399">
              <a:solidFill>
                <a:srgbClr val="1E4664"/>
              </a:solidFill>
              <a:latin typeface="Times New Roman MT"/>
              <a:ea typeface="Times New Roman MT"/>
              <a:cs typeface="Times New Roman MT"/>
              <a:sym typeface="Times New Roman MT"/>
            </a:endParaRPr>
          </a:p>
        </p:txBody>
      </p:sp>
      <p:sp>
        <p:nvSpPr>
          <p:cNvPr id="9" name="TextBox 9"/>
          <p:cNvSpPr txBox="1"/>
          <p:nvPr/>
        </p:nvSpPr>
        <p:spPr>
          <a:xfrm>
            <a:off x="12169797" y="7426900"/>
            <a:ext cx="4428677" cy="317497"/>
          </a:xfrm>
          <a:prstGeom prst="rect">
            <a:avLst/>
          </a:prstGeom>
        </p:spPr>
        <p:txBody>
          <a:bodyPr lIns="0" tIns="0" rIns="0" bIns="0" rtlCol="0" anchor="t">
            <a:spAutoFit/>
          </a:bodyPr>
          <a:lstStyle/>
          <a:p>
            <a:pPr algn="ctr">
              <a:lnSpc>
                <a:spcPts val="2000"/>
              </a:lnSpc>
            </a:pPr>
            <a:r>
              <a:rPr lang="en-US" sz="2000">
                <a:solidFill>
                  <a:srgbClr val="1E4664"/>
                </a:solidFill>
                <a:latin typeface="Times New Roman MT"/>
                <a:ea typeface="Times New Roman MT"/>
                <a:cs typeface="Times New Roman MT"/>
                <a:sym typeface="Times New Roman MT"/>
              </a:rPr>
              <a:t>Evaluation against Project Requirements.</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3836987" y="656749"/>
            <a:ext cx="3422313" cy="3379537"/>
          </a:xfrm>
          <a:custGeom>
            <a:avLst/>
            <a:gdLst/>
            <a:ahLst/>
            <a:cxnLst/>
            <a:rect l="l" t="t" r="r" b="b"/>
            <a:pathLst>
              <a:path w="3422313" h="3379537">
                <a:moveTo>
                  <a:pt x="0" y="0"/>
                </a:moveTo>
                <a:lnTo>
                  <a:pt x="3422313" y="0"/>
                </a:lnTo>
                <a:lnTo>
                  <a:pt x="3422313" y="3379536"/>
                </a:lnTo>
                <a:lnTo>
                  <a:pt x="0" y="3379536"/>
                </a:lnTo>
                <a:lnTo>
                  <a:pt x="0" y="0"/>
                </a:lnTo>
                <a:close/>
              </a:path>
            </a:pathLst>
          </a:custGeom>
          <a:blipFill>
            <a:blip>
              <a:extLst>
                <a:ext uri="{96DAC541-7B7A-43D3-8B79-37D633B846F1}">
                  <asvg:svgBlip xmlns:asvg="http://schemas.microsoft.com/office/drawing/2016/SVG/main" r:embed="rId4"/>
                </a:ext>
              </a:extLst>
            </a:blip>
            <a:stretch>
              <a:fillRect t="-70" b="-70"/>
            </a:stretch>
          </a:blipFill>
        </p:spPr>
      </p:sp>
      <p:sp>
        <p:nvSpPr>
          <p:cNvPr id="5" name="TextBox 5"/>
          <p:cNvSpPr txBox="1"/>
          <p:nvPr/>
        </p:nvSpPr>
        <p:spPr>
          <a:xfrm>
            <a:off x="2507399" y="359883"/>
            <a:ext cx="8535229"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Conclusion</a:t>
            </a:r>
          </a:p>
        </p:txBody>
      </p:sp>
      <p:sp>
        <p:nvSpPr>
          <p:cNvPr id="6" name="Freeform 6"/>
          <p:cNvSpPr/>
          <p:nvPr/>
        </p:nvSpPr>
        <p:spPr>
          <a:xfrm flipH="1" flipV="1">
            <a:off x="15994399" y="759517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a:extLst>
                <a:ext uri="{96DAC541-7B7A-43D3-8B79-37D633B846F1}">
                  <asvg:svgBlip xmlns:asvg="http://schemas.microsoft.com/office/drawing/2016/SVG/main" r:embed="rId5"/>
                </a:ext>
              </a:extLst>
            </a:blip>
            <a:stretch>
              <a:fillRect t="-35" b="-35"/>
            </a:stretch>
          </a:blipFill>
        </p:spPr>
      </p:sp>
      <p:sp>
        <p:nvSpPr>
          <p:cNvPr id="7" name="TextBox 7"/>
          <p:cNvSpPr txBox="1"/>
          <p:nvPr/>
        </p:nvSpPr>
        <p:spPr>
          <a:xfrm>
            <a:off x="319973" y="1373629"/>
            <a:ext cx="11663753" cy="8475726"/>
          </a:xfrm>
          <a:prstGeom prst="rect">
            <a:avLst/>
          </a:prstGeom>
        </p:spPr>
        <p:txBody>
          <a:bodyPr lIns="0" tIns="0" rIns="0" bIns="0" rtlCol="0" anchor="t">
            <a:spAutoFit/>
          </a:bodyPr>
          <a:lstStyle/>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The project was successful in building and testing a pipeline for fraud detection with machine learning techniques SMOTE, Random Forest, XGBoost and a Stacking Ensemble.</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The results indicated that the XGBoost had the greatest Base-dataset performance and the Stacking Ensemble had measurable robustness on the changing datasets. When it comes to stacking, however, it didn't improve upon XGBoost, and it took significantly longer to train.</a:t>
            </a:r>
          </a:p>
          <a:p>
            <a:pPr marL="548519" lvl="2" indent="-182840" algn="just">
              <a:lnSpc>
                <a:spcPts val="4391"/>
              </a:lnSpc>
            </a:pPr>
            <a:r>
              <a:rPr lang="en-US" sz="2399" b="1">
                <a:solidFill>
                  <a:srgbClr val="1E4664"/>
                </a:solidFill>
                <a:latin typeface="Times New Roman Bold"/>
                <a:ea typeface="Times New Roman Bold"/>
                <a:cs typeface="Times New Roman Bold"/>
                <a:sym typeface="Times New Roman Bold"/>
              </a:rPr>
              <a:t>Final Finding</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The results of the research show that ensemble modelling can offer some good fraud-detection capability but it is not just a case of the bigger the ensemble, the better the performance.</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Further research can be done to enhance fraud recall, optimise the ensemble architecture, and minimise computational costs before going into actual banking applications.</a:t>
            </a:r>
          </a:p>
          <a:p>
            <a:pPr marL="548519" lvl="2" indent="-182840" algn="just">
              <a:lnSpc>
                <a:spcPts val="4391"/>
              </a:lnSpc>
            </a:pPr>
            <a:endParaRPr lang="en-US" sz="2399">
              <a:solidFill>
                <a:srgbClr val="1E4664"/>
              </a:solidFill>
              <a:latin typeface="Times New Roman MT"/>
              <a:ea typeface="Times New Roman MT"/>
              <a:cs typeface="Times New Roman MT"/>
              <a:sym typeface="Times New Roman MT"/>
            </a:endParaRPr>
          </a:p>
        </p:txBody>
      </p:sp>
      <p:sp>
        <p:nvSpPr>
          <p:cNvPr id="8" name="Freeform 8"/>
          <p:cNvSpPr/>
          <p:nvPr/>
        </p:nvSpPr>
        <p:spPr>
          <a:xfrm>
            <a:off x="11475358" y="-1596838"/>
            <a:ext cx="7601121" cy="7582119"/>
          </a:xfrm>
          <a:custGeom>
            <a:avLst/>
            <a:gdLst/>
            <a:ahLst/>
            <a:cxnLst/>
            <a:rect l="l" t="t" r="r" b="b"/>
            <a:pathLst>
              <a:path w="7601121" h="7582119">
                <a:moveTo>
                  <a:pt x="0" y="0"/>
                </a:moveTo>
                <a:lnTo>
                  <a:pt x="7601122" y="0"/>
                </a:lnTo>
                <a:lnTo>
                  <a:pt x="7601122" y="7582119"/>
                </a:lnTo>
                <a:lnTo>
                  <a:pt x="0" y="7582119"/>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2544213" y="592141"/>
            <a:ext cx="13824928"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References</a:t>
            </a:r>
          </a:p>
        </p:txBody>
      </p:sp>
      <p:sp>
        <p:nvSpPr>
          <p:cNvPr id="5" name="TextBox 5"/>
          <p:cNvSpPr txBox="1"/>
          <p:nvPr/>
        </p:nvSpPr>
        <p:spPr>
          <a:xfrm>
            <a:off x="574548" y="1697774"/>
            <a:ext cx="16369141" cy="5981700"/>
          </a:xfrm>
          <a:prstGeom prst="rect">
            <a:avLst/>
          </a:prstGeom>
        </p:spPr>
        <p:txBody>
          <a:bodyPr lIns="0" tIns="0" rIns="0" bIns="0" rtlCol="0" anchor="t">
            <a:spAutoFit/>
          </a:bodyPr>
          <a:lstStyle/>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George, M. Z. H., Alam, M. K., &amp; Hasan, M. T. (2025). Machine learning for fraud detection in digital banking: A systematic literature review. arXiv preprint arXiv:2510.05167. https://doi.org/10.63125/913ksy63</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Guterres, J. X., Widwaningtyas, T., &amp; Zaeni, I. A. E. (2026). Fraud Identification in Online Financial Transactions Combining SMOTE and Ensemble Classifiers. Engineering, Technology &amp; Applied Science Research, 16(2), 33323–33333. https://doi.org/10.48084/etasr.16615</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Manzoor, M. F., &amp; Aslam, M. F. (2025). Enhancing banking fraud detection: Role of machine learning and deep learning methods. Premier Journal of Artificial Intelligence, 1(1). https://doi.org/10.70389/PJAI.100014</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Naeem, W., Butt, M. A., &amp; Javeid, U. (2026). Machine Learning-Based Fraud Detection Systems and Their Effectiveness in Reducing Cybersecurity Risks in Digital Banking. Social Science Review Archives, 4(2), 2553–2573. https://doi.org/10.70670/sra.v4i2.2344</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Rajasekar, A., Patra, S., Dua, R., Rajmane, A., &amp; Atulker, P. K. (2026). Machine Learning Applications in Fraud Detection for Digital Banking. International Journal of Advances in Signal and Image Sciences, 1880–1895.</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4826424" y="-768048"/>
            <a:ext cx="3461576" cy="4114800"/>
          </a:xfrm>
          <a:custGeom>
            <a:avLst/>
            <a:gdLst/>
            <a:ahLst/>
            <a:cxnLst/>
            <a:rect l="l" t="t" r="r" b="b"/>
            <a:pathLst>
              <a:path w="3461576" h="4114800">
                <a:moveTo>
                  <a:pt x="0" y="0"/>
                </a:moveTo>
                <a:lnTo>
                  <a:pt x="3461576" y="0"/>
                </a:lnTo>
                <a:lnTo>
                  <a:pt x="3461576"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t="-35" b="-35"/>
            </a:stretch>
          </a:blipFill>
        </p:spPr>
      </p:sp>
      <p:sp>
        <p:nvSpPr>
          <p:cNvPr id="5" name="Freeform 5"/>
          <p:cNvSpPr/>
          <p:nvPr/>
        </p:nvSpPr>
        <p:spPr>
          <a:xfrm>
            <a:off x="14337697" y="5953125"/>
            <a:ext cx="3456432" cy="4114800"/>
          </a:xfrm>
          <a:custGeom>
            <a:avLst/>
            <a:gdLst/>
            <a:ahLst/>
            <a:cxnLst/>
            <a:rect l="l" t="t" r="r" b="b"/>
            <a:pathLst>
              <a:path w="3456432" h="4114800">
                <a:moveTo>
                  <a:pt x="0" y="0"/>
                </a:moveTo>
                <a:lnTo>
                  <a:pt x="3456432" y="0"/>
                </a:lnTo>
                <a:lnTo>
                  <a:pt x="345643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l="-154" r="-154"/>
            </a:stretch>
          </a:blipFill>
        </p:spPr>
      </p:sp>
      <p:sp>
        <p:nvSpPr>
          <p:cNvPr id="6" name="TextBox 6"/>
          <p:cNvSpPr txBox="1"/>
          <p:nvPr/>
        </p:nvSpPr>
        <p:spPr>
          <a:xfrm>
            <a:off x="1573492" y="2166297"/>
            <a:ext cx="13252933" cy="2941434"/>
          </a:xfrm>
          <a:prstGeom prst="rect">
            <a:avLst/>
          </a:prstGeom>
        </p:spPr>
        <p:txBody>
          <a:bodyPr lIns="0" tIns="0" rIns="0" bIns="0" rtlCol="0" anchor="t">
            <a:spAutoFit/>
          </a:bodyPr>
          <a:lstStyle/>
          <a:p>
            <a:pPr marL="731396" lvl="2" indent="-243799" algn="l">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AI tools were used to support the preparation of this presentation, including language refinement and proofreading, while the research, analysis, implementation, results, and conclusions were independently developed by the student</a:t>
            </a:r>
          </a:p>
        </p:txBody>
      </p:sp>
      <p:sp>
        <p:nvSpPr>
          <p:cNvPr id="7" name="TextBox 7"/>
          <p:cNvSpPr txBox="1"/>
          <p:nvPr/>
        </p:nvSpPr>
        <p:spPr>
          <a:xfrm>
            <a:off x="2191731" y="669822"/>
            <a:ext cx="12634693" cy="822531"/>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AI Declaration</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179" b="-179"/>
              </a:stretch>
            </a:blipFill>
          </p:spPr>
        </p:sp>
      </p:grpSp>
      <p:sp>
        <p:nvSpPr>
          <p:cNvPr id="4" name="TextBox 4"/>
          <p:cNvSpPr txBox="1"/>
          <p:nvPr/>
        </p:nvSpPr>
        <p:spPr>
          <a:xfrm>
            <a:off x="1028700" y="4555236"/>
            <a:ext cx="9617402" cy="2085975"/>
          </a:xfrm>
          <a:prstGeom prst="rect">
            <a:avLst/>
          </a:prstGeom>
        </p:spPr>
        <p:txBody>
          <a:bodyPr lIns="0" tIns="0" rIns="0" bIns="0" rtlCol="0" anchor="t">
            <a:spAutoFit/>
          </a:bodyPr>
          <a:lstStyle/>
          <a:p>
            <a:pPr algn="l">
              <a:lnSpc>
                <a:spcPts val="15000"/>
              </a:lnSpc>
            </a:pPr>
            <a:r>
              <a:rPr lang="en-US" sz="15000" b="1">
                <a:solidFill>
                  <a:srgbClr val="1E4664"/>
                </a:solidFill>
                <a:latin typeface="Times New Roman Bold"/>
                <a:ea typeface="Times New Roman Bold"/>
                <a:cs typeface="Times New Roman Bold"/>
                <a:sym typeface="Times New Roman Bold"/>
              </a:rPr>
              <a:t>Thank You</a:t>
            </a:r>
          </a:p>
        </p:txBody>
      </p:sp>
      <p:sp>
        <p:nvSpPr>
          <p:cNvPr id="5" name="Freeform 5"/>
          <p:cNvSpPr/>
          <p:nvPr/>
        </p:nvSpPr>
        <p:spPr>
          <a:xfrm>
            <a:off x="9398060" y="1925974"/>
            <a:ext cx="9799625" cy="11648885"/>
          </a:xfrm>
          <a:custGeom>
            <a:avLst/>
            <a:gdLst/>
            <a:ahLst/>
            <a:cxnLst/>
            <a:rect l="l" t="t" r="r" b="b"/>
            <a:pathLst>
              <a:path w="9799625" h="11648885">
                <a:moveTo>
                  <a:pt x="0" y="0"/>
                </a:moveTo>
                <a:lnTo>
                  <a:pt x="9799625" y="0"/>
                </a:lnTo>
                <a:lnTo>
                  <a:pt x="9799625" y="11648885"/>
                </a:lnTo>
                <a:lnTo>
                  <a:pt x="0" y="11648885"/>
                </a:lnTo>
                <a:lnTo>
                  <a:pt x="0" y="0"/>
                </a:lnTo>
                <a:close/>
              </a:path>
            </a:pathLst>
          </a:custGeom>
          <a:blipFill>
            <a:blip>
              <a:extLst>
                <a:ext uri="{96DAC541-7B7A-43D3-8B79-37D633B846F1}">
                  <asvg:svgBlip xmlns:asvg="http://schemas.microsoft.com/office/drawing/2016/SVG/main" r:embed="rId3"/>
                </a:ext>
              </a:extLst>
            </a:blip>
            <a:stretch>
              <a:fillRect t="-33" b="-33"/>
            </a:stretch>
          </a:blipFill>
        </p:spPr>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2947</Words>
  <Application>Microsoft Office PowerPoint</Application>
  <PresentationFormat>Custom</PresentationFormat>
  <Paragraphs>185</Paragraphs>
  <Slides>15</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Calibri</vt:lpstr>
      <vt:lpstr>Times New Roman MT</vt:lpstr>
      <vt:lpstr>Times New Roman Bold</vt:lpstr>
      <vt:lpstr>Times New Roman MT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MANIKANTA  ppt (1) (1) (1).pptx</dc:title>
  <cp:lastModifiedBy>AA</cp:lastModifiedBy>
  <cp:revision>2</cp:revision>
  <dcterms:created xsi:type="dcterms:W3CDTF">2006-08-16T00:00:00Z</dcterms:created>
  <dcterms:modified xsi:type="dcterms:W3CDTF">2026-09-08T11:35:44Z</dcterms:modified>
  <dc:identifier>DAHUVZZ-mXM</dc:identifier>
</cp:coreProperties>
</file>